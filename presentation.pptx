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ru-RU" sz="2800" b="1">
          <a:solidFill>
            <a:srgbClr val="FFFFFF"/>
          </a:solidFill>
          <a:latin typeface="Calibri"/>
        </a:defRPr>
      </a:lvl1pPr>
    </p:titleStyle>
    <p:bodyStyle>
      <a:lvl1pPr>
        <a:defRPr lang="ru-RU" sz="1800">
          <a:solidFill>
            <a:srgbClr val="FFFFFF"/>
          </a:solidFill>
          <a:latin typeface="Calibri"/>
        </a:defRPr>
      </a:lvl1pPr>
    </p:bodyStyle>
    <p:otherStyle>
      <a:lvl1pPr>
        <a:defRPr lang="ru-RU">
          <a:latin typeface="Calibr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5"/>
          <p:cNvSpPr txBox="1"/>
          <p:nvPr/>
        </p:nvSpPr>
        <p:spPr>
          <a:xfrm>
            <a:off x="0" y="5852160"/>
            <a:ext cx="12192000" cy="1005840"/>
          </a:xfrm>
          <a:prstGeom prst="rect">
            <a:avLst/>
          </a:prstGeom>
          <a:solidFill>
            <a:srgbClr val="060F1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365760" y="3200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Дипломная работа бакалавра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365760" y="1097280"/>
            <a:ext cx="1097280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3200" b="1" i="0" dirty="0">
                <a:solidFill>
                  <a:srgbClr val="FFFFFF"/>
                </a:solidFill>
                <a:latin typeface="Calibri"/>
              </a:rPr>
              <a:t>Система автономного управления</a:t>
            </a:r>
          </a:p>
          <a:p>
            <a:pPr algn="l"/>
            <a:r>
              <a:rPr lang="ru-RU" sz="3200" b="1" i="0" dirty="0">
                <a:solidFill>
                  <a:srgbClr val="FFFFFF"/>
                </a:solidFill>
                <a:latin typeface="Calibri"/>
              </a:rPr>
              <a:t>автомобилем на основе нейронных сетей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365760" y="30632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900" b="0" i="0" dirty="0">
                <a:solidFill>
                  <a:srgbClr val="00B4D8"/>
                </a:solidFill>
                <a:latin typeface="Calibri"/>
              </a:rPr>
              <a:t>Behavioral Cloning  |  NVIDIA PilotNet CNN  |  YOLOv8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365760" y="596188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300" b="0" i="0" dirty="0">
                <a:solidFill>
                  <a:srgbClr val="B0C4DE"/>
                </a:solidFill>
                <a:latin typeface="Calibri"/>
              </a:rPr>
              <a:t>Студент: Филиппов А.  |  Направление: Информационные технологии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Постановка задачи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274320" y="105156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Проблема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274320" y="1527048"/>
            <a:ext cx="557784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Традиционные ADAS требуют ручного программирования правил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Сложно покрыть все дорожные ситуации вручную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End-to-end обучение позволяет обойти это ограничение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274320" y="306324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Цель работы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274320" y="3538728"/>
            <a:ext cx="557784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Разработать нейросетевую систему, которая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воспроизводит поведение водителя: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по изображению с камеры предсказывает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угол поворота руля.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6217920" y="105156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Задачи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6217920" y="1527048"/>
            <a:ext cx="5577840" cy="2560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Подготовить датасет Udacity (3 камеры)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Реализовать архитектуру PilotNet CNN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Обучить модель на записях вождения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Оценить качество: MSE / MAE / R2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Интегрировать детекцию объектов YOLOv8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Математическая модель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274320" y="105156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Задача регрессии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274320" y="1527048"/>
            <a:ext cx="557784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Вход:  x = I  (66x200x3, YUV-кадр)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Выход: y = f(x; theta) in [-1, 1]  (угол руля)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274320" y="233172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Функция потерь (MSE)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274320" y="2807208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endParaRPr lang="ru-RU"/>
          </a:p>
        </p:txBody>
      </p:sp>
      <p:sp>
        <p:nvSpPr>
          <p:cNvPr id="32" name="r32"/>
          <p:cNvSpPr txBox="1"/>
          <p:nvPr/>
        </p:nvSpPr>
        <p:spPr>
          <a:xfrm>
            <a:off x="274320" y="2743200"/>
            <a:ext cx="5577840" cy="685800"/>
          </a:xfrm>
          <a:prstGeom prst="rect">
            <a:avLst/>
          </a:prstGeom>
          <a:solidFill>
            <a:srgbClr val="060F1A"/>
          </a:solidFill>
          <a:ln w="1270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33" name="t33"/>
          <p:cNvSpPr txBox="1"/>
          <p:nvPr/>
        </p:nvSpPr>
        <p:spPr>
          <a:xfrm>
            <a:off x="411480" y="28803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700" b="0" i="0" dirty="0">
                <a:solidFill>
                  <a:srgbClr val="00B4D8"/>
                </a:solidFill>
                <a:latin typeface="Calibri"/>
              </a:rPr>
              <a:t>L(theta) = (1/N) * sum( (yi - f(xi; theta))^2 )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274320" y="361188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Оптимизатор Adam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274320" y="4087368"/>
            <a:ext cx="557784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theta_{t+1} = theta_t - lr * m_t / (sqrt(v_t) + eps)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lr = 1e-3, beta1=0.9, beta2=0.999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ReduceLROnPlateau при plateau val_loss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6217920" y="105156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Нормализация входа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6217920" y="152704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x_norm = (x / 127.5) - 1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Диапазон пикселей [0,255] -&gt; [-1, 1]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6217920" y="237744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Аугментация (p = 0.5)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6217920" y="2852928"/>
            <a:ext cx="557784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Flip: x' = flip(x),  y' = -y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Яркость: HSV-канал V * U(0.4, 1.2)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Сдвиг по x: tx in [-50,50] px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    -&gt; y' += tx * 0.004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Случайная тень (половина кадра)</a:t>
            </a:r>
          </a:p>
        </p:txBody>
      </p:sp>
      <p:sp>
        <p:nvSpPr>
          <p:cNvPr id="70" name="t70"/>
          <p:cNvSpPr txBox="1"/>
          <p:nvPr/>
        </p:nvSpPr>
        <p:spPr>
          <a:xfrm>
            <a:off x="6217920" y="475488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Коррекция боковых камер</a:t>
            </a:r>
          </a:p>
        </p:txBody>
      </p:sp>
      <p:sp>
        <p:nvSpPr>
          <p:cNvPr id="71" name="t71"/>
          <p:cNvSpPr txBox="1"/>
          <p:nvPr/>
        </p:nvSpPr>
        <p:spPr>
          <a:xfrm>
            <a:off x="6217920" y="5230368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300" b="0" i="0" dirty="0">
                <a:solidFill>
                  <a:srgbClr val="B0C4DE"/>
                </a:solidFill>
                <a:latin typeface="Calibri"/>
              </a:rPr>
              <a:t>y_left = y_center + 0.25   |   y_right = y_center - 0.25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Данные и предобработка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274320" y="10515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Датасет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274320" y="1527048"/>
            <a:ext cx="530352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Udacity Self-Driving Car Simulator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~24 000 кадров, 3 камеры (left/center/right)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Метка: угол руля в [-1, 1]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Формат: CSV + папка с изображениями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274320" y="320040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Предобработка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274320" y="3675888"/>
            <a:ext cx="530352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Обрезка неба и капота (ROI)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Resize -&gt; 66x200 (NVIDIA PilotNet формат)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BGR -&gt; YUV (устойчивее к освещению)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Нормализация пикселей -&gt; [-1, 1]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6217920" y="10515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Аугментация и балансировка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6217920" y="1527048"/>
            <a:ext cx="5486400" cy="21031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Горизонтальный flip + инверсия угла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Яркость / сдвиг / тень -- случайно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Коррекция угла +-0.25 для боковых камер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Срез пиков нулевого угла (прямая езда)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Итого: ~3x разнообразнее данных</a:t>
            </a:r>
          </a:p>
        </p:txBody>
      </p:sp>
      <p:sp>
        <p:nvSpPr>
          <p:cNvPr id="50" name="r50"/>
          <p:cNvSpPr txBox="1"/>
          <p:nvPr/>
        </p:nvSpPr>
        <p:spPr>
          <a:xfrm>
            <a:off x="6217920" y="3840480"/>
            <a:ext cx="5486400" cy="1828800"/>
          </a:xfrm>
          <a:prstGeom prst="rect">
            <a:avLst/>
          </a:prstGeom>
          <a:solidFill>
            <a:srgbClr val="060F1A"/>
          </a:solidFill>
          <a:ln w="1270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51" name="t51"/>
          <p:cNvSpPr txBox="1"/>
          <p:nvPr/>
        </p:nvSpPr>
        <p:spPr>
          <a:xfrm>
            <a:off x="6355080" y="3977640"/>
            <a:ext cx="521208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300" b="0" i="0" dirty="0">
                <a:solidFill>
                  <a:srgbClr val="B0C4DE"/>
                </a:solidFill>
                <a:latin typeface="Calibri"/>
              </a:rPr>
              <a:t>left (-0.25)    center (0)    right (+0.25)</a:t>
            </a:r>
          </a:p>
          <a:p>
            <a:pPr algn="ctr"/>
            <a:r>
              <a:rPr lang="ru-RU" sz="1300" b="0" i="0" dirty="0">
                <a:solidFill>
                  <a:srgbClr val="B0C4DE"/>
                </a:solidFill>
                <a:latin typeface="Calibri"/>
              </a:rPr>
              <a:t>    &lt;-------------------------------&gt;  Коррекция угла для боковых камер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Архитектура -- NVIDIA PilotNet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274320" y="10058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1" dirty="0">
                <a:solidFill>
                  <a:srgbClr val="B0C4DE"/>
                </a:solidFill>
                <a:latin typeface="Calibri"/>
              </a:rPr>
              <a:t>Оригинал: NVIDIA (2016) -- End-to-End Learning for Self-Driving Cars</a:t>
            </a:r>
          </a:p>
        </p:txBody>
      </p:sp>
      <p:sp>
        <p:nvSpPr>
          <p:cNvPr id="100" name="r100"/>
          <p:cNvSpPr txBox="1"/>
          <p:nvPr/>
        </p:nvSpPr>
        <p:spPr>
          <a:xfrm>
            <a:off x="274320" y="1417320"/>
            <a:ext cx="5029200" cy="389636"/>
          </a:xfrm>
          <a:prstGeom prst="rect">
            <a:avLst/>
          </a:prstGeom>
          <a:solidFill>
            <a:srgbClr val="007A99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0" name="t200"/>
          <p:cNvSpPr txBox="1"/>
          <p:nvPr/>
        </p:nvSpPr>
        <p:spPr>
          <a:xfrm>
            <a:off x="411480" y="145542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Вход: 66x200x3  (YUV)</a:t>
            </a:r>
          </a:p>
        </p:txBody>
      </p:sp>
      <p:sp>
        <p:nvSpPr>
          <p:cNvPr id="101" name="r101"/>
          <p:cNvSpPr txBox="1"/>
          <p:nvPr/>
        </p:nvSpPr>
        <p:spPr>
          <a:xfrm>
            <a:off x="274320" y="1819656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1" name="t201"/>
          <p:cNvSpPr txBox="1"/>
          <p:nvPr/>
        </p:nvSpPr>
        <p:spPr>
          <a:xfrm>
            <a:off x="411480" y="1857756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Conv2D 5x5 s=2, 24 фильтра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3474720" y="1857756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BatchNorm + ELU</a:t>
            </a:r>
          </a:p>
        </p:txBody>
      </p:sp>
      <p:sp>
        <p:nvSpPr>
          <p:cNvPr id="102" name="r102"/>
          <p:cNvSpPr txBox="1"/>
          <p:nvPr/>
        </p:nvSpPr>
        <p:spPr>
          <a:xfrm>
            <a:off x="274320" y="2221992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2" name="t202"/>
          <p:cNvSpPr txBox="1"/>
          <p:nvPr/>
        </p:nvSpPr>
        <p:spPr>
          <a:xfrm>
            <a:off x="411480" y="226009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Conv2D 5x5 s=2, 36 фильтров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3474720" y="226009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BatchNorm + ELU</a:t>
            </a:r>
          </a:p>
        </p:txBody>
      </p:sp>
      <p:sp>
        <p:nvSpPr>
          <p:cNvPr id="103" name="r103"/>
          <p:cNvSpPr txBox="1"/>
          <p:nvPr/>
        </p:nvSpPr>
        <p:spPr>
          <a:xfrm>
            <a:off x="274320" y="2624328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3" name="t203"/>
          <p:cNvSpPr txBox="1"/>
          <p:nvPr/>
        </p:nvSpPr>
        <p:spPr>
          <a:xfrm>
            <a:off x="411480" y="2662428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Conv2D 5x5 s=2, 48 фильтров</a:t>
            </a:r>
          </a:p>
        </p:txBody>
      </p:sp>
      <p:sp>
        <p:nvSpPr>
          <p:cNvPr id="303" name="t303"/>
          <p:cNvSpPr txBox="1"/>
          <p:nvPr/>
        </p:nvSpPr>
        <p:spPr>
          <a:xfrm>
            <a:off x="3474720" y="266242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BatchNorm + ELU</a:t>
            </a:r>
          </a:p>
        </p:txBody>
      </p:sp>
      <p:sp>
        <p:nvSpPr>
          <p:cNvPr id="104" name="r104"/>
          <p:cNvSpPr txBox="1"/>
          <p:nvPr/>
        </p:nvSpPr>
        <p:spPr>
          <a:xfrm>
            <a:off x="274320" y="3026664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4" name="t204"/>
          <p:cNvSpPr txBox="1"/>
          <p:nvPr/>
        </p:nvSpPr>
        <p:spPr>
          <a:xfrm>
            <a:off x="411480" y="306476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Conv2D 3x3, 64 фильтра</a:t>
            </a:r>
          </a:p>
        </p:txBody>
      </p:sp>
      <p:sp>
        <p:nvSpPr>
          <p:cNvPr id="304" name="t304"/>
          <p:cNvSpPr txBox="1"/>
          <p:nvPr/>
        </p:nvSpPr>
        <p:spPr>
          <a:xfrm>
            <a:off x="3474720" y="306476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BatchNorm + ELU</a:t>
            </a:r>
          </a:p>
        </p:txBody>
      </p:sp>
      <p:sp>
        <p:nvSpPr>
          <p:cNvPr id="105" name="r105"/>
          <p:cNvSpPr txBox="1"/>
          <p:nvPr/>
        </p:nvSpPr>
        <p:spPr>
          <a:xfrm>
            <a:off x="274320" y="3429000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5" name="t205"/>
          <p:cNvSpPr txBox="1"/>
          <p:nvPr/>
        </p:nvSpPr>
        <p:spPr>
          <a:xfrm>
            <a:off x="411480" y="346710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Conv2D 3x3, 64 фильтра</a:t>
            </a:r>
          </a:p>
        </p:txBody>
      </p:sp>
      <p:sp>
        <p:nvSpPr>
          <p:cNvPr id="305" name="t305"/>
          <p:cNvSpPr txBox="1"/>
          <p:nvPr/>
        </p:nvSpPr>
        <p:spPr>
          <a:xfrm>
            <a:off x="3474720" y="3467100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BatchNorm + ELU</a:t>
            </a:r>
          </a:p>
        </p:txBody>
      </p:sp>
      <p:sp>
        <p:nvSpPr>
          <p:cNvPr id="106" name="r106"/>
          <p:cNvSpPr txBox="1"/>
          <p:nvPr/>
        </p:nvSpPr>
        <p:spPr>
          <a:xfrm>
            <a:off x="274320" y="3831336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6" name="t206"/>
          <p:cNvSpPr txBox="1"/>
          <p:nvPr/>
        </p:nvSpPr>
        <p:spPr>
          <a:xfrm>
            <a:off x="411480" y="3869436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Flatten -&gt; 1152</a:t>
            </a:r>
          </a:p>
        </p:txBody>
      </p:sp>
      <p:sp>
        <p:nvSpPr>
          <p:cNvPr id="107" name="r107"/>
          <p:cNvSpPr txBox="1"/>
          <p:nvPr/>
        </p:nvSpPr>
        <p:spPr>
          <a:xfrm>
            <a:off x="274320" y="4233672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7" name="t207"/>
          <p:cNvSpPr txBox="1"/>
          <p:nvPr/>
        </p:nvSpPr>
        <p:spPr>
          <a:xfrm>
            <a:off x="411480" y="4271772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Dropout(0.5) -&gt; FC 100</a:t>
            </a:r>
          </a:p>
        </p:txBody>
      </p:sp>
      <p:sp>
        <p:nvSpPr>
          <p:cNvPr id="307" name="t307"/>
          <p:cNvSpPr txBox="1"/>
          <p:nvPr/>
        </p:nvSpPr>
        <p:spPr>
          <a:xfrm>
            <a:off x="3474720" y="4271772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ELU</a:t>
            </a:r>
          </a:p>
        </p:txBody>
      </p:sp>
      <p:sp>
        <p:nvSpPr>
          <p:cNvPr id="108" name="r108"/>
          <p:cNvSpPr txBox="1"/>
          <p:nvPr/>
        </p:nvSpPr>
        <p:spPr>
          <a:xfrm>
            <a:off x="274320" y="4636008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8" name="t208"/>
          <p:cNvSpPr txBox="1"/>
          <p:nvPr/>
        </p:nvSpPr>
        <p:spPr>
          <a:xfrm>
            <a:off x="411480" y="4674108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Dropout(0.25) -&gt; FC 50</a:t>
            </a:r>
          </a:p>
        </p:txBody>
      </p:sp>
      <p:sp>
        <p:nvSpPr>
          <p:cNvPr id="308" name="t308"/>
          <p:cNvSpPr txBox="1"/>
          <p:nvPr/>
        </p:nvSpPr>
        <p:spPr>
          <a:xfrm>
            <a:off x="3474720" y="4674108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ELU</a:t>
            </a:r>
          </a:p>
        </p:txBody>
      </p:sp>
      <p:sp>
        <p:nvSpPr>
          <p:cNvPr id="109" name="r109"/>
          <p:cNvSpPr txBox="1"/>
          <p:nvPr/>
        </p:nvSpPr>
        <p:spPr>
          <a:xfrm>
            <a:off x="274320" y="5038344"/>
            <a:ext cx="5029200" cy="389636"/>
          </a:xfrm>
          <a:prstGeom prst="rect">
            <a:avLst/>
          </a:prstGeom>
          <a:solidFill>
            <a:srgbClr val="060F1A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9" name="t209"/>
          <p:cNvSpPr txBox="1"/>
          <p:nvPr/>
        </p:nvSpPr>
        <p:spPr>
          <a:xfrm>
            <a:off x="411480" y="5076444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FFFFFF"/>
                </a:solidFill>
                <a:latin typeface="Calibri"/>
              </a:rPr>
              <a:t>FC 10 -&gt; ELU -&gt; FC 1</a:t>
            </a:r>
          </a:p>
        </p:txBody>
      </p:sp>
      <p:sp>
        <p:nvSpPr>
          <p:cNvPr id="309" name="t309"/>
          <p:cNvSpPr txBox="1"/>
          <p:nvPr/>
        </p:nvSpPr>
        <p:spPr>
          <a:xfrm>
            <a:off x="3474720" y="5076444"/>
            <a:ext cx="182880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100" b="0" i="0" dirty="0">
                <a:solidFill>
                  <a:srgbClr val="00B4D8"/>
                </a:solidFill>
                <a:latin typeface="Calibri"/>
              </a:rPr>
              <a:t>-&gt; Tanh</a:t>
            </a:r>
          </a:p>
        </p:txBody>
      </p:sp>
      <p:sp>
        <p:nvSpPr>
          <p:cNvPr id="110" name="r110"/>
          <p:cNvSpPr txBox="1"/>
          <p:nvPr/>
        </p:nvSpPr>
        <p:spPr>
          <a:xfrm>
            <a:off x="274320" y="5440680"/>
            <a:ext cx="5029200" cy="389636"/>
          </a:xfrm>
          <a:prstGeom prst="rect">
            <a:avLst/>
          </a:prstGeom>
          <a:solidFill>
            <a:srgbClr val="007A99"/>
          </a:solidFill>
          <a:ln w="63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10" name="t210"/>
          <p:cNvSpPr txBox="1"/>
          <p:nvPr/>
        </p:nvSpPr>
        <p:spPr>
          <a:xfrm>
            <a:off x="411480" y="5478780"/>
            <a:ext cx="2926080" cy="402336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1" i="0" dirty="0">
                <a:solidFill>
                  <a:srgbClr val="FFFFFF"/>
                </a:solidFill>
                <a:latin typeface="Calibri"/>
              </a:rPr>
              <a:t>Выход: угол в [-1, 1]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6217920" y="10515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Ключевые решения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6217920" y="1527048"/>
            <a:ext cx="5486400" cy="24688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BatchNorm -- стабилизирует обучение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ELU вместо ReLU -- нет мёртвых нейронов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Dropout 50%/25% -- против переобучения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Tanh на выходе -&gt; [-1, 1]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Adam + ReduceLROnPlateau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EarlyStopping patience=10</a:t>
            </a:r>
          </a:p>
        </p:txBody>
      </p:sp>
      <p:sp>
        <p:nvSpPr>
          <p:cNvPr id="60" name="r60"/>
          <p:cNvSpPr txBox="1"/>
          <p:nvPr/>
        </p:nvSpPr>
        <p:spPr>
          <a:xfrm>
            <a:off x="6217920" y="4206240"/>
            <a:ext cx="5486400" cy="1554480"/>
          </a:xfrm>
          <a:prstGeom prst="rect">
            <a:avLst/>
          </a:prstGeom>
          <a:solidFill>
            <a:srgbClr val="060F1A"/>
          </a:solidFill>
          <a:ln w="1270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61" name="t61"/>
          <p:cNvSpPr txBox="1"/>
          <p:nvPr/>
        </p:nvSpPr>
        <p:spPr>
          <a:xfrm>
            <a:off x="6355080" y="4343400"/>
            <a:ext cx="521208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Optimizer: Adam  |  LR = 1e-3</a:t>
            </a:r>
          </a:p>
          <a:p>
            <a:pPr algn="l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Loss: MSE  |  Batch = 128</a:t>
            </a:r>
          </a:p>
          <a:p>
            <a:pPr algn="l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Epochs: до 50  |  ~560 000 параметров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Вклад автора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274320" y="10058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B0C4DE"/>
                </a:solidFill>
                <a:latin typeface="Calibri"/>
              </a:rPr>
              <a:t>Что взято из литературы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274320" y="1481328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B0C4DE"/>
                </a:solidFill>
                <a:latin typeface="Calibri"/>
              </a:rPr>
              <a:t>• Архитектура PilotNet (NVIDIA, 2016)</a:t>
            </a:r>
          </a:p>
          <a:p>
            <a:pPr algn="l"/>
            <a:r>
              <a:rPr lang="ru-RU" sz="1500" b="0" i="0" dirty="0">
                <a:solidFill>
                  <a:srgbClr val="B0C4DE"/>
                </a:solidFill>
                <a:latin typeface="Calibri"/>
              </a:rPr>
              <a:t>• Метод Behavioral Cloning</a:t>
            </a:r>
          </a:p>
          <a:p>
            <a:pPr algn="l"/>
            <a:r>
              <a:rPr lang="ru-RU" sz="1500" b="0" i="0" dirty="0">
                <a:solidFill>
                  <a:srgbClr val="B0C4DE"/>
                </a:solidFill>
                <a:latin typeface="Calibri"/>
              </a:rPr>
              <a:t>• Датасет: Udacity Simulator Challenge</a:t>
            </a:r>
          </a:p>
        </p:txBody>
      </p:sp>
      <p:sp>
        <p:nvSpPr>
          <p:cNvPr id="29" name="r29"/>
          <p:cNvSpPr txBox="1"/>
          <p:nvPr/>
        </p:nvSpPr>
        <p:spPr>
          <a:xfrm>
            <a:off x="274320" y="269748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30"/>
          <p:cNvSpPr txBox="1"/>
          <p:nvPr/>
        </p:nvSpPr>
        <p:spPr>
          <a:xfrm>
            <a:off x="274320" y="283464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Авторские доработки и реализация</a:t>
            </a:r>
          </a:p>
        </p:txBody>
      </p:sp>
      <p:sp>
        <p:nvSpPr>
          <p:cNvPr id="400" name="r400"/>
          <p:cNvSpPr txBox="1"/>
          <p:nvPr/>
        </p:nvSpPr>
        <p:spPr>
          <a:xfrm>
            <a:off x="274320" y="35204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" name="t500"/>
          <p:cNvSpPr txBox="1"/>
          <p:nvPr/>
        </p:nvSpPr>
        <p:spPr>
          <a:xfrm>
            <a:off x="685800" y="342900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PyTorch-реализация PilotNet с нуля</a:t>
            </a:r>
          </a:p>
        </p:txBody>
      </p:sp>
      <p:sp>
        <p:nvSpPr>
          <p:cNvPr id="600" name="t600"/>
          <p:cNvSpPr txBox="1"/>
          <p:nvPr/>
        </p:nvSpPr>
        <p:spPr>
          <a:xfrm>
            <a:off x="685800" y="370332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    BatchNorm + ELU + Dropout -- не в оригинале NVIDIA</a:t>
            </a:r>
          </a:p>
        </p:txBody>
      </p:sp>
      <p:sp>
        <p:nvSpPr>
          <p:cNvPr id="401" name="r401"/>
          <p:cNvSpPr txBox="1"/>
          <p:nvPr/>
        </p:nvSpPr>
        <p:spPr>
          <a:xfrm>
            <a:off x="274320" y="4032504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" name="t501"/>
          <p:cNvSpPr txBox="1"/>
          <p:nvPr/>
        </p:nvSpPr>
        <p:spPr>
          <a:xfrm>
            <a:off x="685800" y="3941064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DataLoader с тройной камерой</a:t>
            </a:r>
          </a:p>
        </p:txBody>
      </p:sp>
      <p:sp>
        <p:nvSpPr>
          <p:cNvPr id="601" name="t601"/>
          <p:cNvSpPr txBox="1"/>
          <p:nvPr/>
        </p:nvSpPr>
        <p:spPr>
          <a:xfrm>
            <a:off x="685800" y="4215384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    Угловая коррекция +-0.25, балансировка гистограммы</a:t>
            </a:r>
          </a:p>
        </p:txBody>
      </p:sp>
      <p:sp>
        <p:nvSpPr>
          <p:cNvPr id="402" name="r402"/>
          <p:cNvSpPr txBox="1"/>
          <p:nvPr/>
        </p:nvSpPr>
        <p:spPr>
          <a:xfrm>
            <a:off x="274320" y="4544568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t502"/>
          <p:cNvSpPr txBox="1"/>
          <p:nvPr/>
        </p:nvSpPr>
        <p:spPr>
          <a:xfrm>
            <a:off x="685800" y="4453128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Расширенная аугментация</a:t>
            </a:r>
          </a:p>
        </p:txBody>
      </p:sp>
      <p:sp>
        <p:nvSpPr>
          <p:cNvPr id="602" name="t602"/>
          <p:cNvSpPr txBox="1"/>
          <p:nvPr/>
        </p:nvSpPr>
        <p:spPr>
          <a:xfrm>
            <a:off x="685800" y="4727448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    Яркость, сдвиг, тень, flip -- весь пайплайн собственный</a:t>
            </a:r>
          </a:p>
        </p:txBody>
      </p:sp>
      <p:sp>
        <p:nvSpPr>
          <p:cNvPr id="403" name="r403"/>
          <p:cNvSpPr txBox="1"/>
          <p:nvPr/>
        </p:nvSpPr>
        <p:spPr>
          <a:xfrm>
            <a:off x="274320" y="5056632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" name="t503"/>
          <p:cNvSpPr txBox="1"/>
          <p:nvPr/>
        </p:nvSpPr>
        <p:spPr>
          <a:xfrm>
            <a:off x="685800" y="4965192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Цикл обучения и мониторинг</a:t>
            </a:r>
          </a:p>
        </p:txBody>
      </p:sp>
      <p:sp>
        <p:nvSpPr>
          <p:cNvPr id="603" name="t603"/>
          <p:cNvSpPr txBox="1"/>
          <p:nvPr/>
        </p:nvSpPr>
        <p:spPr>
          <a:xfrm>
            <a:off x="685800" y="5239512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    Adam, EarlyStopping, ReduceLR, чекпоинты</a:t>
            </a:r>
          </a:p>
        </p:txBody>
      </p:sp>
      <p:sp>
        <p:nvSpPr>
          <p:cNvPr id="404" name="r404"/>
          <p:cNvSpPr txBox="1"/>
          <p:nvPr/>
        </p:nvSpPr>
        <p:spPr>
          <a:xfrm>
            <a:off x="274320" y="5568696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" name="t504"/>
          <p:cNvSpPr txBox="1"/>
          <p:nvPr/>
        </p:nvSpPr>
        <p:spPr>
          <a:xfrm>
            <a:off x="685800" y="5477256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Интеграция YOLOv8</a:t>
            </a:r>
          </a:p>
        </p:txBody>
      </p:sp>
      <p:sp>
        <p:nvSpPr>
          <p:cNvPr id="604" name="t604"/>
          <p:cNvSpPr txBox="1"/>
          <p:nvPr/>
        </p:nvSpPr>
        <p:spPr>
          <a:xfrm>
            <a:off x="685800" y="5751576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    Совместный пайплайн: управление + детекция объектов</a:t>
            </a:r>
          </a:p>
        </p:txBody>
      </p:sp>
      <p:sp>
        <p:nvSpPr>
          <p:cNvPr id="405" name="r405"/>
          <p:cNvSpPr txBox="1"/>
          <p:nvPr/>
        </p:nvSpPr>
        <p:spPr>
          <a:xfrm>
            <a:off x="274320" y="608076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" name="t505"/>
          <p:cNvSpPr txBox="1"/>
          <p:nvPr/>
        </p:nvSpPr>
        <p:spPr>
          <a:xfrm>
            <a:off x="685800" y="598932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400" b="1" i="0" dirty="0">
                <a:solidFill>
                  <a:srgbClr val="FFFFFF"/>
                </a:solidFill>
                <a:latin typeface="Calibri"/>
              </a:rPr>
              <a:t>5 Jupyter-ноутбуков для Colab</a:t>
            </a:r>
          </a:p>
        </p:txBody>
      </p:sp>
      <p:sp>
        <p:nvSpPr>
          <p:cNvPr id="605" name="t605"/>
          <p:cNvSpPr txBox="1"/>
          <p:nvPr/>
        </p:nvSpPr>
        <p:spPr>
          <a:xfrm>
            <a:off x="685800" y="6263640"/>
            <a:ext cx="1115568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    Автоустановка, воспроизводимость, GPU T4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Детекция объектов -- YOLOv8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274320" y="10515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Зачем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274320" y="1527048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PilotNet управляет рулём, но не видит препятствий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YOLOv8n добавляет распознавание объектов на дороге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Совместный пайплайн = управление + восприятие сцены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274320" y="30175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Совместный пайплайн</a:t>
            </a:r>
          </a:p>
        </p:txBody>
      </p:sp>
      <p:sp>
        <p:nvSpPr>
          <p:cNvPr id="31" name="r31"/>
          <p:cNvSpPr txBox="1"/>
          <p:nvPr/>
        </p:nvSpPr>
        <p:spPr>
          <a:xfrm>
            <a:off x="274320" y="3520440"/>
            <a:ext cx="5486400" cy="2651760"/>
          </a:xfrm>
          <a:prstGeom prst="rect">
            <a:avLst/>
          </a:prstGeom>
          <a:solidFill>
            <a:srgbClr val="060F1A"/>
          </a:solidFill>
          <a:ln w="1270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32" name="t32"/>
          <p:cNvSpPr txBox="1"/>
          <p:nvPr/>
        </p:nvSpPr>
        <p:spPr>
          <a:xfrm>
            <a:off x="411480" y="3657600"/>
            <a:ext cx="5212080" cy="23774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[ Кадр 66x200 YUV ]</a:t>
            </a:r>
          </a:p>
          <a:p>
            <a:endParaRPr lang="ru-RU"/>
          </a:p>
          <a:p>
            <a:pPr algn="ctr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[ PilotNet ]       [ YOLOv8n ]</a:t>
            </a:r>
          </a:p>
          <a:p>
            <a:pPr algn="ctr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    угол theta        bbox + label</a:t>
            </a:r>
          </a:p>
          <a:p>
            <a:endParaRPr lang="ru-RU"/>
          </a:p>
          <a:p>
            <a:pPr algn="ctr"/>
            <a:r>
              <a:rPr lang="ru-RU" sz="1400" b="0" i="0" dirty="0">
                <a:solidFill>
                  <a:srgbClr val="B0C4DE"/>
                </a:solidFill>
                <a:latin typeface="Calibri"/>
              </a:rPr>
              <a:t>[ Визуализация / управление ]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6217920" y="10515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Модель YOLOv8n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6217920" y="1527048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Претренирована на COCO (80 классов)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Inference &lt; 30 мс / кадр на CPU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Классы: car, truck, person, traffic light...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Zero-shot на сценах симулятора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6217920" y="36576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Результат на кадре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6217920" y="4133088"/>
            <a:ext cx="5486400" cy="1554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Предсказан угол руля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Отмечены объекты с классами и confidence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Единый вывод в реальном времени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Что выполнено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100"/>
          <p:cNvSpPr txBox="1"/>
          <p:nvPr/>
        </p:nvSpPr>
        <p:spPr>
          <a:xfrm>
            <a:off x="274320" y="114300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t200"/>
          <p:cNvSpPr txBox="1"/>
          <p:nvPr/>
        </p:nvSpPr>
        <p:spPr>
          <a:xfrm>
            <a:off x="704088" y="105156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Архитектура PilotNet реализована на PyTorch</a:t>
            </a:r>
          </a:p>
        </p:txBody>
      </p:sp>
      <p:sp>
        <p:nvSpPr>
          <p:cNvPr id="101" name="r101"/>
          <p:cNvSpPr txBox="1"/>
          <p:nvPr/>
        </p:nvSpPr>
        <p:spPr>
          <a:xfrm>
            <a:off x="274320" y="1764792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t201"/>
          <p:cNvSpPr txBox="1"/>
          <p:nvPr/>
        </p:nvSpPr>
        <p:spPr>
          <a:xfrm>
            <a:off x="704088" y="167335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DataLoader: 3 камеры, аугментация, балансировка</a:t>
            </a:r>
          </a:p>
        </p:txBody>
      </p:sp>
      <p:sp>
        <p:nvSpPr>
          <p:cNvPr id="102" name="r102"/>
          <p:cNvSpPr txBox="1"/>
          <p:nvPr/>
        </p:nvSpPr>
        <p:spPr>
          <a:xfrm>
            <a:off x="274320" y="2386584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t202"/>
          <p:cNvSpPr txBox="1"/>
          <p:nvPr/>
        </p:nvSpPr>
        <p:spPr>
          <a:xfrm>
            <a:off x="704088" y="2295144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Цикл обучения: Adam, MSE loss, EarlyStopping</a:t>
            </a:r>
          </a:p>
        </p:txBody>
      </p:sp>
      <p:sp>
        <p:nvSpPr>
          <p:cNvPr id="103" name="r103"/>
          <p:cNvSpPr txBox="1"/>
          <p:nvPr/>
        </p:nvSpPr>
        <p:spPr>
          <a:xfrm>
            <a:off x="274320" y="3008376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203"/>
          <p:cNvSpPr txBox="1"/>
          <p:nvPr/>
        </p:nvSpPr>
        <p:spPr>
          <a:xfrm>
            <a:off x="704088" y="2916936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Оценка: MSE / MAE / R2, визуализация ошибок</a:t>
            </a:r>
          </a:p>
        </p:txBody>
      </p:sp>
      <p:sp>
        <p:nvSpPr>
          <p:cNvPr id="104" name="r104"/>
          <p:cNvSpPr txBox="1"/>
          <p:nvPr/>
        </p:nvSpPr>
        <p:spPr>
          <a:xfrm>
            <a:off x="274320" y="3630168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t204"/>
          <p:cNvSpPr txBox="1"/>
          <p:nvPr/>
        </p:nvSpPr>
        <p:spPr>
          <a:xfrm>
            <a:off x="704088" y="353872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YOLOv8 детекция + объединённый пайплайн</a:t>
            </a:r>
          </a:p>
        </p:txBody>
      </p:sp>
      <p:sp>
        <p:nvSpPr>
          <p:cNvPr id="105" name="r105"/>
          <p:cNvSpPr txBox="1"/>
          <p:nvPr/>
        </p:nvSpPr>
        <p:spPr>
          <a:xfrm>
            <a:off x="274320" y="425196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t205"/>
          <p:cNvSpPr txBox="1"/>
          <p:nvPr/>
        </p:nvSpPr>
        <p:spPr>
          <a:xfrm>
            <a:off x="704088" y="416052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5 Jupyter-ноутбуков для Google Colab (GPU T4)</a:t>
            </a:r>
          </a:p>
        </p:txBody>
      </p:sp>
      <p:sp>
        <p:nvSpPr>
          <p:cNvPr id="106" name="r106"/>
          <p:cNvSpPr txBox="1"/>
          <p:nvPr/>
        </p:nvSpPr>
        <p:spPr>
          <a:xfrm>
            <a:off x="274320" y="4873752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t206"/>
          <p:cNvSpPr txBox="1"/>
          <p:nvPr/>
        </p:nvSpPr>
        <p:spPr>
          <a:xfrm>
            <a:off x="704088" y="4782312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Автоматическая установка (00_install.ipynb)</a:t>
            </a:r>
          </a:p>
        </p:txBody>
      </p:sp>
      <p:sp>
        <p:nvSpPr>
          <p:cNvPr id="107" name="r107"/>
          <p:cNvSpPr txBox="1"/>
          <p:nvPr/>
        </p:nvSpPr>
        <p:spPr>
          <a:xfrm>
            <a:off x="274320" y="5495544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t207"/>
          <p:cNvSpPr txBox="1"/>
          <p:nvPr/>
        </p:nvSpPr>
        <p:spPr>
          <a:xfrm>
            <a:off x="704088" y="5404104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0" i="0" dirty="0">
                <a:solidFill>
                  <a:srgbClr val="FFFFFF"/>
                </a:solidFill>
                <a:latin typeface="Calibri"/>
              </a:rPr>
              <a:t>Совместимость с PyTorch 2.6+, публикация на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Ожидаемые результаты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100"/>
          <p:cNvSpPr txBox="1"/>
          <p:nvPr/>
        </p:nvSpPr>
        <p:spPr>
          <a:xfrm>
            <a:off x="274320" y="1097280"/>
            <a:ext cx="3566160" cy="1828800"/>
          </a:xfrm>
          <a:prstGeom prst="rect">
            <a:avLst/>
          </a:prstGeom>
          <a:solidFill>
            <a:srgbClr val="060F1A"/>
          </a:solidFill>
          <a:ln w="190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0" name="t200"/>
          <p:cNvSpPr txBox="1"/>
          <p:nvPr/>
        </p:nvSpPr>
        <p:spPr>
          <a:xfrm>
            <a:off x="365760" y="11887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800" b="1" i="0" dirty="0">
                <a:solidFill>
                  <a:srgbClr val="00B4D8"/>
                </a:solidFill>
                <a:latin typeface="Calibri"/>
              </a:rPr>
              <a:t>MSE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365760" y="161848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2800" b="1" i="0" dirty="0">
                <a:solidFill>
                  <a:srgbClr val="FFD166"/>
                </a:solidFill>
                <a:latin typeface="Calibri"/>
              </a:rPr>
              <a:t>&lt; 0.01</a:t>
            </a:r>
          </a:p>
        </p:txBody>
      </p:sp>
      <p:sp>
        <p:nvSpPr>
          <p:cNvPr id="400" name="t400"/>
          <p:cNvSpPr txBox="1"/>
          <p:nvPr/>
        </p:nvSpPr>
        <p:spPr>
          <a:xfrm>
            <a:off x="365760" y="226771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Средняя квадр. ошибка</a:t>
            </a:r>
          </a:p>
        </p:txBody>
      </p:sp>
      <p:sp>
        <p:nvSpPr>
          <p:cNvPr id="101" name="r101"/>
          <p:cNvSpPr txBox="1"/>
          <p:nvPr/>
        </p:nvSpPr>
        <p:spPr>
          <a:xfrm>
            <a:off x="4114800" y="1097280"/>
            <a:ext cx="3566160" cy="1828800"/>
          </a:xfrm>
          <a:prstGeom prst="rect">
            <a:avLst/>
          </a:prstGeom>
          <a:solidFill>
            <a:srgbClr val="060F1A"/>
          </a:solidFill>
          <a:ln w="190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1" name="t201"/>
          <p:cNvSpPr txBox="1"/>
          <p:nvPr/>
        </p:nvSpPr>
        <p:spPr>
          <a:xfrm>
            <a:off x="4206240" y="11887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800" b="1" i="0" dirty="0">
                <a:solidFill>
                  <a:srgbClr val="00B4D8"/>
                </a:solidFill>
                <a:latin typeface="Calibri"/>
              </a:rPr>
              <a:t>MAE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4206240" y="161848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2800" b="1" i="0" dirty="0">
                <a:solidFill>
                  <a:srgbClr val="FFD166"/>
                </a:solidFill>
                <a:latin typeface="Calibri"/>
              </a:rPr>
              <a:t>&lt; 0.07</a:t>
            </a:r>
          </a:p>
        </p:txBody>
      </p:sp>
      <p:sp>
        <p:nvSpPr>
          <p:cNvPr id="401" name="t401"/>
          <p:cNvSpPr txBox="1"/>
          <p:nvPr/>
        </p:nvSpPr>
        <p:spPr>
          <a:xfrm>
            <a:off x="4206240" y="226771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Средняя абс. ошибка</a:t>
            </a:r>
          </a:p>
        </p:txBody>
      </p:sp>
      <p:sp>
        <p:nvSpPr>
          <p:cNvPr id="102" name="r102"/>
          <p:cNvSpPr txBox="1"/>
          <p:nvPr/>
        </p:nvSpPr>
        <p:spPr>
          <a:xfrm>
            <a:off x="7955280" y="1097280"/>
            <a:ext cx="3566160" cy="1828800"/>
          </a:xfrm>
          <a:prstGeom prst="rect">
            <a:avLst/>
          </a:prstGeom>
          <a:solidFill>
            <a:srgbClr val="060F1A"/>
          </a:solidFill>
          <a:ln w="190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202" name="t202"/>
          <p:cNvSpPr txBox="1"/>
          <p:nvPr/>
        </p:nvSpPr>
        <p:spPr>
          <a:xfrm>
            <a:off x="8046720" y="11887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800" b="1" i="0" dirty="0">
                <a:solidFill>
                  <a:srgbClr val="00B4D8"/>
                </a:solidFill>
                <a:latin typeface="Calibri"/>
              </a:rPr>
              <a:t>R2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8046720" y="161848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2800" b="1" i="0" dirty="0">
                <a:solidFill>
                  <a:srgbClr val="FFD166"/>
                </a:solidFill>
                <a:latin typeface="Calibri"/>
              </a:rPr>
              <a:t>&gt; 0.85</a:t>
            </a:r>
          </a:p>
        </p:txBody>
      </p:sp>
      <p:sp>
        <p:nvSpPr>
          <p:cNvPr id="402" name="t402"/>
          <p:cNvSpPr txBox="1"/>
          <p:nvPr/>
        </p:nvSpPr>
        <p:spPr>
          <a:xfrm>
            <a:off x="8046720" y="2267712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1200" b="0" i="0" dirty="0">
                <a:solidFill>
                  <a:srgbClr val="B0C4DE"/>
                </a:solidFill>
                <a:latin typeface="Calibri"/>
              </a:rPr>
              <a:t>Коэффициент детерминации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274320" y="31089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Визуализации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274320" y="3584448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Кривые train / val loss по эпохам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Scatter: предсказания vs. истинные углы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Гистограмма остатков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6217920" y="310896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Среда и время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6217920" y="3584448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Google Colab, GPU NVIDIA T4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Python 3.10, PyTorch 2.6, Ultralytics YOLOv8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Время обучения: ~20-40 мин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182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2800" b="1" i="0" dirty="0">
                <a:solidFill>
                  <a:srgbClr val="00B4D8"/>
                </a:solidFill>
                <a:latin typeface="Calibri"/>
              </a:rPr>
              <a:t>Дальнейшие шаги</a:t>
            </a:r>
          </a:p>
        </p:txBody>
      </p:sp>
      <p:sp>
        <p:nvSpPr>
          <p:cNvPr id="11" name="r11"/>
          <p:cNvSpPr txBox="1"/>
          <p:nvPr/>
        </p:nvSpPr>
        <p:spPr>
          <a:xfrm>
            <a:off x="274320" y="86868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20"/>
          <p:cNvSpPr txBox="1"/>
          <p:nvPr/>
        </p:nvSpPr>
        <p:spPr>
          <a:xfrm>
            <a:off x="27432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Ближайшие</a:t>
            </a:r>
          </a:p>
        </p:txBody>
      </p:sp>
      <p:sp>
        <p:nvSpPr>
          <p:cNvPr id="100" name="r100"/>
          <p:cNvSpPr txBox="1"/>
          <p:nvPr/>
        </p:nvSpPr>
        <p:spPr>
          <a:xfrm>
            <a:off x="274320" y="1618488"/>
            <a:ext cx="88900" cy="889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t200"/>
          <p:cNvSpPr txBox="1"/>
          <p:nvPr/>
        </p:nvSpPr>
        <p:spPr>
          <a:xfrm>
            <a:off x="548640" y="150876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600" b="1" i="0" dirty="0">
                <a:solidFill>
                  <a:srgbClr val="FFFFFF"/>
                </a:solidFill>
                <a:latin typeface="Calibri"/>
              </a:rPr>
              <a:t>Запустить обучение в Colab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6400800" y="15087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B0C4DE"/>
                </a:solidFill>
                <a:latin typeface="Calibri"/>
              </a:rPr>
              <a:t>-&gt;  получить итоговые метрики</a:t>
            </a:r>
          </a:p>
        </p:txBody>
      </p:sp>
      <p:sp>
        <p:nvSpPr>
          <p:cNvPr id="101" name="r101"/>
          <p:cNvSpPr txBox="1"/>
          <p:nvPr/>
        </p:nvSpPr>
        <p:spPr>
          <a:xfrm>
            <a:off x="274320" y="2395728"/>
            <a:ext cx="88900" cy="889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t201"/>
          <p:cNvSpPr txBox="1"/>
          <p:nvPr/>
        </p:nvSpPr>
        <p:spPr>
          <a:xfrm>
            <a:off x="548640" y="228600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600" b="1" i="0" dirty="0">
                <a:solidFill>
                  <a:srgbClr val="FFFFFF"/>
                </a:solidFill>
                <a:latin typeface="Calibri"/>
              </a:rPr>
              <a:t>Загрузить датасет на Google Drive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6400800" y="22860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B0C4DE"/>
                </a:solidFill>
                <a:latin typeface="Calibri"/>
              </a:rPr>
              <a:t>-&gt;  проверить end-to-end пайплайн</a:t>
            </a:r>
          </a:p>
        </p:txBody>
      </p:sp>
      <p:sp>
        <p:nvSpPr>
          <p:cNvPr id="102" name="r102"/>
          <p:cNvSpPr txBox="1"/>
          <p:nvPr/>
        </p:nvSpPr>
        <p:spPr>
          <a:xfrm>
            <a:off x="274320" y="3172968"/>
            <a:ext cx="88900" cy="889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t202"/>
          <p:cNvSpPr txBox="1"/>
          <p:nvPr/>
        </p:nvSpPr>
        <p:spPr>
          <a:xfrm>
            <a:off x="548640" y="306324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600" b="1" i="0" dirty="0">
                <a:solidFill>
                  <a:srgbClr val="FFFFFF"/>
                </a:solidFill>
                <a:latin typeface="Calibri"/>
              </a:rPr>
              <a:t>Сформировать графики и таблицы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6400800" y="3063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B0C4DE"/>
                </a:solidFill>
                <a:latin typeface="Calibri"/>
              </a:rPr>
              <a:t>-&gt;  для главы Результаты</a:t>
            </a:r>
          </a:p>
        </p:txBody>
      </p:sp>
      <p:sp>
        <p:nvSpPr>
          <p:cNvPr id="40" name="r40"/>
          <p:cNvSpPr txBox="1"/>
          <p:nvPr/>
        </p:nvSpPr>
        <p:spPr>
          <a:xfrm>
            <a:off x="274320" y="3931920"/>
            <a:ext cx="11430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t41"/>
          <p:cNvSpPr txBox="1"/>
          <p:nvPr/>
        </p:nvSpPr>
        <p:spPr>
          <a:xfrm>
            <a:off x="274320" y="4069080"/>
            <a:ext cx="114300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700" b="1" i="0" dirty="0">
                <a:solidFill>
                  <a:srgbClr val="FFD166"/>
                </a:solidFill>
                <a:latin typeface="Calibri"/>
              </a:rPr>
              <a:t>Перспективы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274320" y="4544568"/>
            <a:ext cx="11430000" cy="173736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LSTM / GRU -- учёт истории кадров для сглаживания управления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Дообучение YOLOv8 на сценах симулятора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Демо-видео: реальный прогон в Udacity Simulator</a:t>
            </a:r>
          </a:p>
          <a:p>
            <a:pPr algn="l"/>
            <a:r>
              <a:rPr lang="ru-RU" sz="1500" b="0" i="0" dirty="0">
                <a:solidFill>
                  <a:srgbClr val="FFFFFF"/>
                </a:solidFill>
                <a:latin typeface="Calibri"/>
              </a:rPr>
              <a:t>• Написание глав диплома (архитектура, результаты, выводы)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" name="r1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274320" y="365760"/>
            <a:ext cx="1191768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3200" b="1" i="0" dirty="0">
                <a:solidFill>
                  <a:srgbClr val="00B4D8"/>
                </a:solidFill>
                <a:latin typeface="Calibri"/>
              </a:rPr>
              <a:t>Итог</a:t>
            </a:r>
          </a:p>
        </p:txBody>
      </p:sp>
      <p:sp>
        <p:nvSpPr>
          <p:cNvPr id="100" name="r100"/>
          <p:cNvSpPr txBox="1"/>
          <p:nvPr/>
        </p:nvSpPr>
        <p:spPr>
          <a:xfrm>
            <a:off x="1188720" y="1353312"/>
            <a:ext cx="114300" cy="114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t200"/>
          <p:cNvSpPr txBox="1"/>
          <p:nvPr/>
        </p:nvSpPr>
        <p:spPr>
          <a:xfrm>
            <a:off x="1554480" y="1188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 b="0" i="0" dirty="0">
                <a:solidFill>
                  <a:srgbClr val="FFFFFF"/>
                </a:solidFill>
                <a:latin typeface="Calibri"/>
              </a:rPr>
              <a:t>Реализована end-to-end система Behavioral Cloning на PyTorch</a:t>
            </a:r>
          </a:p>
        </p:txBody>
      </p:sp>
      <p:sp>
        <p:nvSpPr>
          <p:cNvPr id="101" name="r101"/>
          <p:cNvSpPr txBox="1"/>
          <p:nvPr/>
        </p:nvSpPr>
        <p:spPr>
          <a:xfrm>
            <a:off x="1188720" y="1975104"/>
            <a:ext cx="114300" cy="114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t201"/>
          <p:cNvSpPr txBox="1"/>
          <p:nvPr/>
        </p:nvSpPr>
        <p:spPr>
          <a:xfrm>
            <a:off x="1554480" y="1810512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 b="0" i="0" dirty="0">
                <a:solidFill>
                  <a:srgbClr val="FFFFFF"/>
                </a:solidFill>
                <a:latin typeface="Calibri"/>
              </a:rPr>
              <a:t>Архитектура: NVIDIA PilotNet CNN (BatchNorm + ELU + Dropout)</a:t>
            </a:r>
          </a:p>
        </p:txBody>
      </p:sp>
      <p:sp>
        <p:nvSpPr>
          <p:cNvPr id="102" name="r102"/>
          <p:cNvSpPr txBox="1"/>
          <p:nvPr/>
        </p:nvSpPr>
        <p:spPr>
          <a:xfrm>
            <a:off x="1188720" y="2596896"/>
            <a:ext cx="114300" cy="114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t202"/>
          <p:cNvSpPr txBox="1"/>
          <p:nvPr/>
        </p:nvSpPr>
        <p:spPr>
          <a:xfrm>
            <a:off x="1554480" y="2432304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 b="0" i="0" dirty="0">
                <a:solidFill>
                  <a:srgbClr val="FFFFFF"/>
                </a:solidFill>
                <a:latin typeface="Calibri"/>
              </a:rPr>
              <a:t>Данные: Udacity Simulator, 3 камеры, аугментация, балансировка</a:t>
            </a:r>
          </a:p>
        </p:txBody>
      </p:sp>
      <p:sp>
        <p:nvSpPr>
          <p:cNvPr id="103" name="r103"/>
          <p:cNvSpPr txBox="1"/>
          <p:nvPr/>
        </p:nvSpPr>
        <p:spPr>
          <a:xfrm>
            <a:off x="1188720" y="3218688"/>
            <a:ext cx="114300" cy="114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203"/>
          <p:cNvSpPr txBox="1"/>
          <p:nvPr/>
        </p:nvSpPr>
        <p:spPr>
          <a:xfrm>
            <a:off x="1554480" y="3054096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 b="0" i="0" dirty="0">
                <a:solidFill>
                  <a:srgbClr val="FFFFFF"/>
                </a:solidFill>
                <a:latin typeface="Calibri"/>
              </a:rPr>
              <a:t>Мат. модель: MSE-регрессия, Adam, нормализация YUV-входа</a:t>
            </a:r>
          </a:p>
        </p:txBody>
      </p:sp>
      <p:sp>
        <p:nvSpPr>
          <p:cNvPr id="104" name="r104"/>
          <p:cNvSpPr txBox="1"/>
          <p:nvPr/>
        </p:nvSpPr>
        <p:spPr>
          <a:xfrm>
            <a:off x="1188720" y="3840480"/>
            <a:ext cx="114300" cy="114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t204"/>
          <p:cNvSpPr txBox="1"/>
          <p:nvPr/>
        </p:nvSpPr>
        <p:spPr>
          <a:xfrm>
            <a:off x="1554480" y="3675888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 b="0" i="0" dirty="0">
                <a:solidFill>
                  <a:srgbClr val="FFFFFF"/>
                </a:solidFill>
                <a:latin typeface="Calibri"/>
              </a:rPr>
              <a:t>Авторский вклад: полная реализация + YOLOv8 интеграция</a:t>
            </a:r>
          </a:p>
        </p:txBody>
      </p:sp>
      <p:sp>
        <p:nvSpPr>
          <p:cNvPr id="105" name="r105"/>
          <p:cNvSpPr txBox="1"/>
          <p:nvPr/>
        </p:nvSpPr>
        <p:spPr>
          <a:xfrm>
            <a:off x="1188720" y="4462272"/>
            <a:ext cx="114300" cy="1143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t205"/>
          <p:cNvSpPr txBox="1"/>
          <p:nvPr/>
        </p:nvSpPr>
        <p:spPr>
          <a:xfrm>
            <a:off x="1554480" y="4297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l"/>
            <a:r>
              <a:rPr lang="ru-RU" sz="1800" b="0" i="0" dirty="0">
                <a:solidFill>
                  <a:srgbClr val="FFFFFF"/>
                </a:solidFill>
                <a:latin typeface="Calibri"/>
              </a:rPr>
              <a:t>Вся система воспроизводима в Colab за один запуск</a:t>
            </a:r>
          </a:p>
        </p:txBody>
      </p:sp>
      <p:sp>
        <p:nvSpPr>
          <p:cNvPr id="50" name="r50"/>
          <p:cNvSpPr txBox="1"/>
          <p:nvPr/>
        </p:nvSpPr>
        <p:spPr>
          <a:xfrm>
            <a:off x="1371600" y="5029200"/>
            <a:ext cx="9144000" cy="1097280"/>
          </a:xfrm>
          <a:prstGeom prst="rect">
            <a:avLst/>
          </a:prstGeom>
          <a:solidFill>
            <a:srgbClr val="004A6B"/>
          </a:solidFill>
          <a:ln w="19050">
            <a:solidFill>
              <a:srgbClr val="00B4D8"/>
            </a:solidFill>
          </a:ln>
        </p:spPr>
        <p:txBody>
          <a:bodyPr/>
          <a:lstStyle/>
          <a:p/>
        </p:txBody>
      </p:sp>
      <p:sp>
        <p:nvSpPr>
          <p:cNvPr id="51" name="t51"/>
          <p:cNvSpPr txBox="1"/>
          <p:nvPr/>
        </p:nvSpPr>
        <p:spPr>
          <a:xfrm>
            <a:off x="1554480" y="512064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algn="ctr"/>
            <a:r>
              <a:rPr lang="ru-RU" sz="2200" b="1" i="0" dirty="0">
                <a:solidFill>
                  <a:srgbClr val="FFFFFF"/>
                </a:solidFill>
                <a:latin typeface="Calibri"/>
              </a:rPr>
              <a:t>Спасибо за внимание!</a:t>
            </a:r>
          </a:p>
          <a:p>
            <a:pPr algn="ctr"/>
            <a:r>
              <a:rPr lang="ru-RU" sz="2200" b="1" i="0" dirty="0">
                <a:solidFill>
                  <a:srgbClr val="FFFFFF"/>
                </a:solidFill>
                <a:latin typeface="Calibri"/>
              </a:rPr>
              <a:t>Готов ответить на вопросы.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ploma">
  <a:themeElements>
    <a:clrScheme name="Diploma">
      <a:dk1>
        <a:sysClr lastClr="000000" val="windowText"/>
      </a:dk1>
      <a:lt1>
        <a:sysClr lastClr="ffffff" val="window"/>
      </a:lt1>
      <a:dk2>
        <a:srgbClr val="0D1B2A"/>
      </a:dk2>
      <a:lt2>
        <a:srgbClr val="B0C4DE"/>
      </a:lt2>
      <a:accent1>
        <a:srgbClr val="00B4D8"/>
      </a:accent1>
      <a:accent2>
        <a:srgbClr val="FFD166"/>
      </a:accent2>
      <a:accent3>
        <a:srgbClr val="4BACC6"/>
      </a:accent3>
      <a:accent4>
        <a:srgbClr val="8064A2"/>
      </a:accent4>
      <a:accent5>
        <a:srgbClr val="4F81BD"/>
      </a:accent5>
      <a:accent6>
        <a:srgbClr val="00B050"/>
      </a:accent6>
      <a:hlink>
        <a:srgbClr val="0563C1"/>
      </a:hlink>
      <a:folHlink>
        <a:srgbClr val="954F72"/>
      </a:folHlink>
    </a:clrScheme>
    <a:fontScheme name="Diplom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plom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3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30000"/>
              </a:schemeClr>
            </a:gs>
          </a:gsLst>
          <a:lin ang="16200000" scaled="0"/>
        </a:gra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Python PPTX Generator</Application>
  <Slides>11</Slides>
</Properties>
</file>

<file path=docProps/core.xml><?xml version="1.0" encoding="utf-8"?>
<cp:coreProperties xmlns:cp="http://schemas.openxmlformats.org/package/2006/metadata/core-properties" xmlns:dc="http://purl.org/dc/elements/1.1/">
  <dc:title>Avtonomnoe upravlenie avtomobilem</dc:title>
  <dc:creator>Filippov A.</dc:creator>
</cp:coreProperties>
</file>