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ns0:presentation xmlns:ns0="http://schemas.openxmlformats.org/presentationml/2006/main" xmlns:ns1="http://schemas.openxmlformats.org/officeDocument/2006/relationships" xmlns:a="http://schemas.openxmlformats.org/drawingml/2006/main" xmlns:p="http://schemas.openxmlformats.org/presentationml/2006/main" xmlns:r="http://schemas.openxmlformats.org/officeDocument/2006/relationships">
  <ns0:sldSz cx="12192000" cy="6858000"/>
  <ns0:notesSz cx="6858000" cy="9144000"/>
  <ns0:sldMasterIdLst>
    <ns0:sldMasterId id="2147483648" ns1:id="rId1"/>
  </ns0:sldMasterIdLst>
  <ns0:sldIdLst>
    <ns0:sldId id="256" ns1:id="rId2"/>
    <ns0:sldId id="257" ns1:id="rId3"/>
    <ns0:sldId id="258" ns1:id="rId4"/>
    <ns0:sldId id="259" ns1:id="rId5"/>
    <ns0:sldId id="260" ns1:id="rId6"/>
    <ns0:sldId id="261" ns1:id="rId7"/>
    <ns0:sldId id="262" ns1:id="rId8"/>
    <ns0:sldId id="263" ns1:id="rId9"/>
    <ns0:sldId id="264" ns1:id="rId10"/>
    <ns0:sldId id="265" ns1:id="rId11"/>
    <ns0:sldId id="266" ns1:id="rId12"/>
  </ns0:sldIdLst>
</ns0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>
        <a:defRPr lang="ru-RU" sz="2800" b="1">
          <a:solidFill>
            <a:srgbClr val="FFFFFF"/>
          </a:solidFill>
          <a:latin typeface="Calibri"/>
        </a:defRPr>
      </a:lvl1pPr>
    </p:titleStyle>
    <p:bodyStyle>
      <a:lvl1pPr>
        <a:defRPr lang="ru-RU" sz="1800">
          <a:solidFill>
            <a:srgbClr val="FFFFFF"/>
          </a:solidFill>
          <a:latin typeface="Calibri"/>
        </a:defRPr>
      </a:lvl1pPr>
    </p:bodyStyle>
    <p:otherStyle>
      <a:lvl1pPr>
        <a:defRPr lang="ru-RU">
          <a:solidFill>
            <a:srgbClr val="FFFFFF"/>
          </a:solidFill>
          <a:latin typeface="Calibri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ns0:sld xmlns:ns0="http://schemas.openxmlformats.org/presentationml/2006/main" xmlns:ns1="http://schemas.openxmlformats.org/drawingml/2006/main" xmlns:a="http://schemas.openxmlformats.org/drawingml/2006/main" xmlns:p="http://schemas.openxmlformats.org/presentationml/2006/main" xmlns:r="http://schemas.openxmlformats.org/officeDocument/2006/relationships">
  <ns0:cSld>
    <ns0:bg>
      <ns0:bgPr>
        <ns1:solidFill>
          <ns1:srgbClr val="0D1B2A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x="12192000" cx="12192000" cy="6858000"/>
          <ns1:chOff x="0" y="0"/>
          <ns1:chExt x="12192000" cx="12192000" cy="6858000"/>
        </ns1:xfrm>
      </ns0:grpSpPr>
      <ns0:sp>
        <ns0:nvSpPr>
          <ns0:cNvPr id="10" name="rect10"/>
          <ns0:cNvSpPr txBox="1"/>
          <ns0:nvPr/>
        </ns0:nvSpPr>
        <ns0:spPr>
          <ns1:xfrm>
            <ns1:off x="0" y="0"/>
            <ns1:ext cx="109728" cy="68580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11" name="rect11"/>
          <ns0:cNvSpPr txBox="1"/>
          <ns0:nvPr/>
        </ns0:nvSpPr>
        <ns0:spPr>
          <ns1:xfrm>
            <ns1:off x="0" y="5852160"/>
            <ns1:ext cx="12192000" cy="1005840"/>
          </ns1:xfrm>
          <ns1:prstGeom prst="rect">
            <ns1:avLst/>
          </ns1:prstGeom>
          <ns1:solidFill>
            <ns1:srgbClr val="060F1A"/>
          </ns1:solidFill>
          <ns1:ln/>
        </ns0:spPr>
        <ns0:txBody>
          <ns1:bodyPr/>
          <ns1:lstStyle/>
          <ns1:p/>
        </ns0:txBody>
      </ns0:sp>
      <ns0:sp>
        <ns0:nvSpPr>
          <ns0:cNvPr id="20" name="txt20"/>
          <ns0:cNvSpPr txBox="1"/>
          <ns0:nvPr/>
        </ns0:nvSpPr>
        <ns0:spPr>
          <ns1:xfrm>
            <ns1:off x="365760" y="320040"/>
            <ns1:ext cx="10972800" cy="4572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Дипломная работа бакалавра</ns1:t>
            </ns1:r>
          </ns1:p>
        </ns0:txBody>
      </ns0:sp>
      <ns0:sp>
        <ns0:nvSpPr>
          <ns0:cNvPr id="21" name="txt21"/>
          <ns0:cNvSpPr txBox="1"/>
          <ns0:nvPr/>
        </ns0:nvSpPr>
        <ns0:spPr>
          <ns1:xfrm>
            <ns1:off x="365760" y="1097280"/>
            <ns1:ext cx="10972800" cy="20116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3200" b="1" i="0" dirty="0">
                <ns1:solidFill>
                  <ns1:srgbClr val="FFFFFF"/>
                </ns1:solidFill>
                <ns1:latin typeface="Calibri"/>
              </ns1:rPr>
              <ns1:t>Система автономного управления</ns1:t>
            </ns1:r>
          </ns1:p>
          <ns1:p>
            <ns1:pPr algn="l"/>
            <ns1:r>
              <ns1:rPr lang="ru-RU" sz="3200" b="1" i="0" dirty="0">
                <ns1:solidFill>
                  <ns1:srgbClr val="FFFFFF"/>
                </ns1:solidFill>
                <ns1:latin typeface="Calibri"/>
              </ns1:rPr>
              <ns1:t>автомобилем на основе нейронных сетей</ns1:t>
            </ns1:r>
          </ns1:p>
        </ns0:txBody>
      </ns0:sp>
      <ns0:sp>
        <ns0:nvSpPr>
          <ns0:cNvPr id="22" name="txt22"/>
          <ns0:cNvSpPr txBox="1"/>
          <ns0:nvPr/>
        </ns0:nvSpPr>
        <ns0:spPr>
          <ns1:xfrm>
            <ns1:off x="365760" y="3063240"/>
            <ns1:ext cx="10972800" cy="5486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2000" b="0" i="0" dirty="0">
                <ns1:solidFill>
                  <ns1:srgbClr val="00B4D8"/>
                </ns1:solidFill>
                <ns1:latin typeface="Calibri"/>
              </ns1:rPr>
              <ns1:t>Behavioral Cloning  ·  NVIDIA PilotNet CNN  ·  YOLOv8</ns1:t>
            </ns1:r>
          </ns1:p>
        </ns0:txBody>
      </ns0:sp>
      <ns0:sp>
        <ns0:nvSpPr>
          <ns0:cNvPr id="30" name="txt30"/>
          <ns0:cNvSpPr txBox="1"/>
          <ns0:nvPr/>
        </ns0:nvSpPr>
        <ns0:spPr>
          <ns1:xfrm>
            <ns1:off x="365760" y="5961888"/>
            <ns1:ext cx="11430000" cy="4572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300" b="0" i="0" dirty="0">
                <ns1:solidFill>
                  <ns1:srgbClr val="B0C4DE"/>
                </ns1:solidFill>
                <ns1:latin typeface="Calibri"/>
              </ns1:rPr>
              <ns1:t>Студент: Филиппов А.  ·  Направление: Информационные технологии  ·  2026</ns1:t>
            </ns1:r>
          </ns1:p>
        </ns0:txBody>
      </ns0:sp>
    </ns0:spTree>
  </ns0:cSld>
  <ns0:clrMapOvr>
    <ns1:masterClrMapping/>
  </ns0:clrMapOvr>
</ns0:sld>
</file>

<file path=ppt/slides/slide2.xml><?xml version="1.0" encoding="utf-8"?>
<ns0:sld xmlns:ns0="http://schemas.openxmlformats.org/presentationml/2006/main" xmlns:ns1="http://schemas.openxmlformats.org/drawingml/2006/main" xmlns:a="http://schemas.openxmlformats.org/drawingml/2006/main" xmlns:p="http://schemas.openxmlformats.org/presentationml/2006/main" xmlns:r="http://schemas.openxmlformats.org/officeDocument/2006/relationships">
  <ns0:cSld>
    <ns0:bg>
      <ns0:bgPr>
        <ns1:solidFill>
          <ns1:srgbClr val="0D1B2A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x="12192000" cx="12192000" cy="6858000"/>
          <ns1:chOff x="0" y="0"/>
          <ns1:chExt x="12192000" cx="12192000" cy="6858000"/>
        </ns1:xfrm>
      </ns0:grpSpPr>
      <ns0:sp>
        <ns0:nvSpPr>
          <ns0:cNvPr id="10" name="rect10"/>
          <ns0:cNvSpPr txBox="1"/>
          <ns0:nvPr/>
        </ns0:nvSpPr>
        <ns0:spPr>
          <ns1:xfrm>
            <ns1:off x="0" y="0"/>
            <ns1:ext cx="109728" cy="68580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" name="txt20"/>
          <ns0:cNvSpPr txBox="1"/>
          <ns0:nvPr/>
        </ns0:nvSpPr>
        <ns0:spPr>
          <ns1:xfrm>
            <ns1:off x="274320" y="182880"/>
            <ns1:ext cx="10972800" cy="6400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2800" b="1" i="0" dirty="0">
                <ns1:solidFill>
                  <ns1:srgbClr val="00B4D8"/>
                </ns1:solidFill>
                <ns1:latin typeface="Calibri"/>
              </ns1:rPr>
              <ns1:t>Постановка задачи</ns1:t>
            </ns1:r>
          </ns1:p>
        </ns0:txBody>
      </ns0:sp>
      <ns0:sp>
        <ns0:nvSpPr>
          <ns0:cNvPr id="21" name="rect21"/>
          <ns0:cNvSpPr txBox="1"/>
          <ns0:nvPr/>
        </ns0:nvSpPr>
        <ns0:spPr>
          <ns1:xfrm>
            <ns1:off x="274320" y="868680"/>
            <ns1:ext cx="4572000" cy="36576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30" name="txt30"/>
          <ns0:cNvSpPr txBox="1"/>
          <ns0:nvPr/>
        </ns0:nvSpPr>
        <ns0:spPr>
          <ns1:xfrm>
            <ns1:off x="274320" y="1051560"/>
            <ns1:ext cx="548640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Проблема</ns1:t>
            </ns1:r>
          </ns1:p>
        </ns0:txBody>
      </ns0:sp>
      <ns0:sp>
        <ns0:nvSpPr>
          <ns0:cNvPr id="31" name="txt31"/>
          <ns0:cNvSpPr txBox="1"/>
          <ns0:nvPr/>
        </ns0:nvSpPr>
        <ns0:spPr>
          <ns1:xfrm>
            <ns1:off x="274320" y="1481328"/>
            <ns1:ext cx="5577840" cy="14630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Традиционные ADAS требуют ручного программирования правил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Сложно покрыть все дорожные ситуации вручную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End-to-end обучение позволяет обойти это ограничение</ns1:t>
            </ns1:r>
          </ns1:p>
        </ns0:txBody>
      </ns0:sp>
      <ns0:sp>
        <ns0:nvSpPr>
          <ns0:cNvPr id="32" name="txt32"/>
          <ns0:cNvSpPr txBox="1"/>
          <ns0:nvPr/>
        </ns0:nvSpPr>
        <ns0:spPr>
          <ns1:xfrm>
            <ns1:off x="274320" y="3063240"/>
            <ns1:ext cx="548640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Цель работы</ns1:t>
            </ns1:r>
          </ns1:p>
        </ns0:txBody>
      </ns0:sp>
      <ns0:sp>
        <ns0:nvSpPr>
          <ns0:cNvPr id="33" name="txt33"/>
          <ns0:cNvSpPr txBox="1"/>
          <ns0:nvPr/>
        </ns0:nvSpPr>
        <ns0:spPr>
          <ns1:xfrm>
            <ns1:off x="274320" y="3520440"/>
            <ns1:ext cx="5303520" cy="14630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Разработать и обучить нейросетевую систему,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которая воспроизводит поведение водителя: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по изображению с камеры предсказывает угол поворота руля.</ns1:t>
            </ns1:r>
          </ns1:p>
        </ns0:txBody>
      </ns0:sp>
      <ns0:sp>
        <ns0:nvSpPr>
          <ns0:cNvPr id="40" name="txt40"/>
          <ns0:cNvSpPr txBox="1"/>
          <ns0:nvPr/>
        </ns0:nvSpPr>
        <ns0:spPr>
          <ns1:xfrm>
            <ns1:off x="6217920" y="1051560"/>
            <ns1:ext cx="548640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Задачи</ns1:t>
            </ns1:r>
          </ns1:p>
        </ns0:txBody>
      </ns0:sp>
      <ns0:sp>
        <ns0:nvSpPr>
          <ns0:cNvPr id="41" name="txt41"/>
          <ns0:cNvSpPr txBox="1"/>
          <ns0:nvPr/>
        </ns0:nvSpPr>
        <ns0:spPr>
          <ns1:xfrm>
            <ns1:off x="6217920" y="1481328"/>
            <ns1:ext cx="5577840" cy="22860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Подготовить датасет Udacity (3 камеры)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Реализовать архитектуру PilotNet CNN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Обучить модель на записях вождения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Оценить качество: MSE / MAE / R²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Интегрировать детекцию объектов YOLOv8</ns1:t>
            </ns1: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 xmlns:a="http://schemas.openxmlformats.org/drawingml/2006/main" xmlns:p="http://schemas.openxmlformats.org/presentationml/2006/main" xmlns:r="http://schemas.openxmlformats.org/officeDocument/2006/relationships">
  <ns0:cSld>
    <ns0:bg>
      <ns0:bgPr>
        <ns1:solidFill>
          <ns1:srgbClr val="0D1B2A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x="12192000" cx="12192000" cy="6858000"/>
          <ns1:chOff x="0" y="0"/>
          <ns1:chExt x="12192000" cx="12192000" cy="6858000"/>
        </ns1:xfrm>
      </ns0:grpSpPr>
      <ns0:sp>
        <ns0:nvSpPr>
          <ns0:cNvPr id="10" name="rect10"/>
          <ns0:cNvSpPr txBox="1"/>
          <ns0:nvPr/>
        </ns0:nvSpPr>
        <ns0:spPr>
          <ns1:xfrm>
            <ns1:off x="0" y="0"/>
            <ns1:ext cx="109728" cy="68580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" name="txt20"/>
          <ns0:cNvSpPr txBox="1"/>
          <ns0:nvPr/>
        </ns0:nvSpPr>
        <ns0:spPr>
          <ns1:xfrm>
            <ns1:off x="274320" y="182880"/>
            <ns1:ext cx="10972800" cy="6400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2800" b="1" i="0" dirty="0">
                <ns1:solidFill>
                  <ns1:srgbClr val="00B4D8"/>
                </ns1:solidFill>
                <ns1:latin typeface="Calibri"/>
              </ns1:rPr>
              <ns1:t>Математическая модель</ns1:t>
            </ns1:r>
          </ns1:p>
        </ns0:txBody>
      </ns0:sp>
      <ns0:sp>
        <ns0:nvSpPr>
          <ns0:cNvPr id="21" name="rect21"/>
          <ns0:cNvSpPr txBox="1"/>
          <ns0:nvPr/>
        </ns0:nvSpPr>
        <ns0:spPr>
          <ns1:xfrm>
            <ns1:off x="274320" y="868680"/>
            <ns1:ext cx="4572000" cy="36576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30" name="txt30"/>
          <ns0:cNvSpPr txBox="1"/>
          <ns0:nvPr/>
        </ns0:nvSpPr>
        <ns0:spPr>
          <ns1:xfrm>
            <ns1:off x="274320" y="1051560"/>
            <ns1:ext cx="557784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Задача регрессии</ns1:t>
            </ns1:r>
          </ns1:p>
        </ns0:txBody>
      </ns0:sp>
      <ns0:sp>
        <ns0:nvSpPr>
          <ns0:cNvPr id="31" name="txt31"/>
          <ns0:cNvSpPr txBox="1"/>
          <ns0:nvPr/>
        </ns0:nvSpPr>
        <ns0:spPr>
          <ns1:xfrm>
            <ns1:off x="274320" y="1508760"/>
            <ns1:ext cx="5577840" cy="8229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Вход:  x = I ∈ R^(66×200×3)  (кадр YUV)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Выход: ŷ = f(x; θ) ∈ [−1, 1]  (угол руля)</ns1:t>
            </ns1:r>
          </ns1:p>
        </ns0:txBody>
      </ns0:sp>
      <ns0:sp>
        <ns0:nvSpPr>
          <ns0:cNvPr id="32" name="txt32"/>
          <ns0:cNvSpPr txBox="1"/>
          <ns0:nvPr/>
        </ns0:nvSpPr>
        <ns0:spPr>
          <ns1:xfrm>
            <ns1:off x="274320" y="2423160"/>
            <ns1:ext cx="557784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Функция потерь (MSE)</ns1:t>
            </ns1:r>
          </ns1:p>
        </ns0:txBody>
      </ns0:sp>
      <ns0:sp>
        <ns0:nvSpPr>
          <ns0:cNvPr id="33" name="rect33"/>
          <ns0:cNvSpPr txBox="1"/>
          <ns0:nvPr/>
        </ns0:nvSpPr>
        <ns0:spPr>
          <ns1:xfrm>
            <ns1:off x="274320" y="2834640"/>
            <ns1:ext cx="5577840" cy="731520"/>
          </ns1:xfrm>
          <ns1:prstGeom prst="rect">
            <ns1:avLst/>
          </ns1:prstGeom>
          <ns1:solidFill>
            <ns1:srgbClr val="060F1A"/>
          </ns1:solidFill>
          <ns1:ln w="1270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34" name="txt34"/>
          <ns0:cNvSpPr txBox="1"/>
          <ns0:nvPr/>
        </ns0:nvSpPr>
        <ns0:spPr>
          <ns1:xfrm>
            <ns1:off x="457200" y="2926080"/>
            <ns1:ext cx="5212080" cy="6400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700" b="1" i="0" dirty="0">
                <ns1:solidFill>
                  <ns1:srgbClr val="00B4D8"/>
                </ns1:solidFill>
                <ns1:latin typeface="Calibri"/>
              </ns1:rPr>
              <ns1:t>L(θ) = (1/N) Σ (yᵢ − f(xᵢ; θ))²</ns1:t>
            </ns1:r>
          </ns1:p>
        </ns0:txBody>
      </ns0:sp>
      <ns0:sp>
        <ns0:nvSpPr>
          <ns0:cNvPr id="35" name="txt35"/>
          <ns0:cNvSpPr txBox="1"/>
          <ns0:nvPr/>
        </ns0:nvSpPr>
        <ns0:spPr>
          <ns1:xfrm>
            <ns1:off x="274320" y="3749039"/>
            <ns1:ext cx="557784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Оптимизация (Adam)</ns1:t>
            </ns1:r>
          </ns1:p>
        </ns0:txBody>
      </ns0:sp>
      <ns0:sp>
        <ns0:nvSpPr>
          <ns0:cNvPr id="36" name="txt36"/>
          <ns0:cNvSpPr txBox="1"/>
          <ns0:nvPr/>
        </ns0:nvSpPr>
        <ns0:spPr>
          <ns1:xfrm>
            <ns1:off x="274320" y="4206240"/>
            <ns1:ext cx="5577840" cy="13716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0" i="0" dirty="0">
                <ns1:solidFill>
                  <ns1:srgbClr val="FFFFFF"/>
                </ns1:solidFill>
                <ns1:latin typeface="Calibri"/>
              </ns1:rPr>
              <ns1:t>θ_{t+1} = θ_t − α · m̂_t / (√v̂_t + ε)</ns1:t>
            </ns1:r>
          </ns1:p>
          <ns1:p>
            <ns1:pPr algn="l"/>
            <ns1:r>
              <ns1:rPr lang="ru-RU" sz="1400" b="0" i="0" dirty="0">
                <ns1:solidFill>
                  <ns1:srgbClr val="FFFFFF"/>
                </ns1:solidFill>
                <ns1:latin typeface="Calibri"/>
              </ns1:rPr>
              <ns1:t>α = 1e-3, β₁ = 0.9, β₂ = 0.999</ns1:t>
            </ns1:r>
          </ns1:p>
          <ns1:p>
            <ns1:pPr algn="l"/>
            <ns1:r>
              <ns1:rPr lang="ru-RU" sz="1400" b="0" i="0" dirty="0">
                <ns1:solidFill>
                  <ns1:srgbClr val="FFFFFF"/>
                </ns1:solidFill>
                <ns1:latin typeface="Calibri"/>
              </ns1:rPr>
              <ns1:t>ReduceLROnPlateau при plateau val_loss</ns1:t>
            </ns1:r>
          </ns1:p>
        </ns0:txBody>
      </ns0:sp>
      <ns0:sp>
        <ns0:nvSpPr>
          <ns0:cNvPr id="40" name="txt40"/>
          <ns0:cNvSpPr txBox="1"/>
          <ns0:nvPr/>
        </ns0:nvSpPr>
        <ns0:spPr>
          <ns1:xfrm>
            <ns1:off x="6217920" y="1051560"/>
            <ns1:ext cx="557784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Нормализация входа</ns1:t>
            </ns1:r>
          </ns1:p>
        </ns0:txBody>
      </ns0:sp>
      <ns0:sp>
        <ns0:nvSpPr>
          <ns0:cNvPr id="41" name="txt41"/>
          <ns0:cNvSpPr txBox="1"/>
          <ns0:nvPr/>
        </ns0:nvSpPr>
        <ns0:spPr>
          <ns1:xfrm>
            <ns1:off x="6217920" y="1508760"/>
            <ns1:ext cx="5577840" cy="8229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0" i="0" dirty="0">
                <ns1:solidFill>
                  <ns1:srgbClr val="FFFFFF"/>
                </ns1:solidFill>
                <ns1:latin typeface="Calibri"/>
              </ns1:rPr>
              <ns1:t>x_norm = (x / 127.5) − 1</ns1:t>
            </ns1:r>
          </ns1:p>
          <ns1:p>
            <ns1:pPr algn="l"/>
            <ns1:r>
              <ns1:rPr lang="ru-RU" sz="1400" b="0" i="0" dirty="0">
                <ns1:solidFill>
                  <ns1:srgbClr val="FFFFFF"/>
                </ns1:solidFill>
                <ns1:latin typeface="Calibri"/>
              </ns1:rPr>
              <ns1:t>Диапазон пикселей [0,255] → [−1, 1]</ns1:t>
            </ns1:r>
          </ns1:p>
        </ns0:txBody>
      </ns0:sp>
      <ns0:sp>
        <ns0:nvSpPr>
          <ns0:cNvPr id="42" name="txt42"/>
          <ns0:cNvSpPr txBox="1"/>
          <ns0:nvPr/>
        </ns0:nvSpPr>
        <ns0:spPr>
          <ns1:xfrm>
            <ns1:off x="6217920" y="2468880"/>
            <ns1:ext cx="557784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Аугментация (вероятность 0.5)</ns1:t>
            </ns1:r>
          </ns1:p>
        </ns0:txBody>
      </ns0:sp>
      <ns0:sp>
        <ns0:nvSpPr>
          <ns0:cNvPr id="43" name="txt43"/>
          <ns0:cNvSpPr txBox="1"/>
          <ns0:nvPr/>
        </ns0:nvSpPr>
        <ns0:spPr>
          <ns1:xfrm>
            <ns1:off x="6217920" y="2926080"/>
            <ns1:ext cx="5577840" cy="20116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0" i="0" dirty="0">
                <ns1:solidFill>
                  <ns1:srgbClr val="FFFFFF"/>
                </ns1:solidFill>
                <ns1:latin typeface="Calibri"/>
              </ns1:rPr>
              <ns1:t>•  Flip: x' = flip(x), y' = −y</ns1:t>
            </ns1:r>
          </ns1:p>
          <ns1:p>
            <ns1:pPr algn="l"/>
            <ns1:r>
              <ns1:rPr lang="ru-RU" sz="1400" b="0" i="0" dirty="0">
                <ns1:solidFill>
                  <ns1:srgbClr val="FFFFFF"/>
                </ns1:solidFill>
                <ns1:latin typeface="Calibri"/>
              </ns1:rPr>
              <ns1:t>•  Яркость: HSV-канал V × U(0.4, 1.2)</ns1:t>
            </ns1:r>
          </ns1:p>
          <ns1:p>
            <ns1:pPr algn="l"/>
            <ns1:r>
              <ns1:rPr lang="ru-RU" sz="1400" b="0" i="0" dirty="0">
                <ns1:solidFill>
                  <ns1:srgbClr val="FFFFFF"/>
                </ns1:solidFill>
                <ns1:latin typeface="Calibri"/>
              </ns1:rPr>
              <ns1:t>•  Сдвиг по x: случайный tx ∈ [−50,50] px</ns1:t>
            </ns1:r>
          </ns1:p>
          <ns1:p>
            <ns1:pPr algn="l"/>
            <ns1:r>
              <ns1:rPr lang="ru-RU" sz="1400" b="0" i="0" dirty="0">
                <ns1:solidFill>
                  <ns1:srgbClr val="FFFFFF"/>
                </ns1:solidFill>
                <ns1:latin typeface="Calibri"/>
              </ns1:rPr>
              <ns1:t>     → коррекция угла: y' += tx × 0.004</ns1:t>
            </ns1:r>
          </ns1:p>
          <ns1:p>
            <ns1:pPr algn="l"/>
            <ns1:r>
              <ns1:rPr lang="ru-RU" sz="1400" b="0" i="0" dirty="0">
                <ns1:solidFill>
                  <ns1:srgbClr val="FFFFFF"/>
                </ns1:solidFill>
                <ns1:latin typeface="Calibri"/>
              </ns1:rPr>
              <ns1:t>•  Случайная тень: половина кадра темнее</ns1:t>
            </ns1:r>
          </ns1:p>
        </ns0:txBody>
      </ns0:sp>
      <ns0:sp>
        <ns0:nvSpPr>
          <ns0:cNvPr id="44" name="txt44"/>
          <ns0:cNvSpPr txBox="1"/>
          <ns0:nvPr/>
        </ns0:nvSpPr>
        <ns0:spPr>
          <ns1:xfrm>
            <ns1:off x="6217920" y="5029200"/>
            <ns1:ext cx="557784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1" i="0" dirty="0">
                <ns1:solidFill>
                  <ns1:srgbClr val="FFD166"/>
                </ns1:solidFill>
                <ns1:latin typeface="Calibri"/>
              </ns1:rPr>
              <ns1:t>Коррекция боковых камер</ns1:t>
            </ns1:r>
          </ns1:p>
        </ns0:txBody>
      </ns0:sp>
      <ns0:sp>
        <ns0:nvSpPr>
          <ns0:cNvPr id="45" name="txt45"/>
          <ns0:cNvSpPr txBox="1"/>
          <ns0:nvPr/>
        </ns0:nvSpPr>
        <ns0:spPr>
          <ns1:xfrm>
            <ns1:off x="6217920" y="5440680"/>
            <ns1:ext cx="5577840" cy="4572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300" b="0" i="0" dirty="0">
                <ns1:solidFill>
                  <ns1:srgbClr val="B0C4DE"/>
                </ns1:solidFill>
                <ns1:latin typeface="Calibri"/>
              </ns1:rPr>
              <ns1:t>y_left = y_center + 0.25    y_right = y_center − 0.25</ns1:t>
            </ns1: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 xmlns:a="http://schemas.openxmlformats.org/drawingml/2006/main" xmlns:p="http://schemas.openxmlformats.org/presentationml/2006/main" xmlns:r="http://schemas.openxmlformats.org/officeDocument/2006/relationships">
  <ns0:cSld>
    <ns0:bg>
      <ns0:bgPr>
        <ns1:solidFill>
          <ns1:srgbClr val="0D1B2A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x="12192000" cx="12192000" cy="6858000"/>
          <ns1:chOff x="0" y="0"/>
          <ns1:chExt x="12192000" cx="12192000" cy="6858000"/>
        </ns1:xfrm>
      </ns0:grpSpPr>
      <ns0:sp>
        <ns0:nvSpPr>
          <ns0:cNvPr id="10" name="rect10"/>
          <ns0:cNvSpPr txBox="1"/>
          <ns0:nvPr/>
        </ns0:nvSpPr>
        <ns0:spPr>
          <ns1:xfrm>
            <ns1:off x="0" y="0"/>
            <ns1:ext cx="109728" cy="68580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" name="txt20"/>
          <ns0:cNvSpPr txBox="1"/>
          <ns0:nvPr/>
        </ns0:nvSpPr>
        <ns0:spPr>
          <ns1:xfrm>
            <ns1:off x="274320" y="182880"/>
            <ns1:ext cx="10972800" cy="6400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2800" b="1" i="0" dirty="0">
                <ns1:solidFill>
                  <ns1:srgbClr val="00B4D8"/>
                </ns1:solidFill>
                <ns1:latin typeface="Calibri"/>
              </ns1:rPr>
              <ns1:t>Данные и предобработка</ns1:t>
            </ns1:r>
          </ns1:p>
        </ns0:txBody>
      </ns0:sp>
      <ns0:sp>
        <ns0:nvSpPr>
          <ns0:cNvPr id="21" name="rect21"/>
          <ns0:cNvSpPr txBox="1"/>
          <ns0:nvPr/>
        </ns0:nvSpPr>
        <ns0:spPr>
          <ns1:xfrm>
            <ns1:off x="274320" y="868680"/>
            <ns1:ext cx="4572000" cy="36576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30" name="txt30"/>
          <ns0:cNvSpPr txBox="1"/>
          <ns0:nvPr/>
        </ns0:nvSpPr>
        <ns0:spPr>
          <ns1:xfrm>
            <ns1:off x="274320" y="1051560"/>
            <ns1:ext cx="530352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Датасет</ns1:t>
            </ns1:r>
          </ns1:p>
        </ns0:txBody>
      </ns0:sp>
      <ns0:sp>
        <ns0:nvSpPr>
          <ns0:cNvPr id="31" name="txt31"/>
          <ns0:cNvSpPr txBox="1"/>
          <ns0:nvPr/>
        </ns0:nvSpPr>
        <ns0:spPr>
          <ns1:xfrm>
            <ns1:off x="274320" y="1481328"/>
            <ns1:ext cx="5303520" cy="1554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Udacity Self-Driving Car Simulator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~24 000 кадров, 3 камеры (left/center/right)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Метка: угол руля ∈ [−1, 1]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Формат: CSV + папка с изображениями</ns1:t>
            </ns1:r>
          </ns1:p>
        </ns0:txBody>
      </ns0:sp>
      <ns0:sp>
        <ns0:nvSpPr>
          <ns0:cNvPr id="32" name="txt32"/>
          <ns0:cNvSpPr txBox="1"/>
          <ns0:nvPr/>
        </ns0:nvSpPr>
        <ns0:spPr>
          <ns1:xfrm>
            <ns1:off x="274320" y="3200400"/>
            <ns1:ext cx="530352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Предобработка</ns1:t>
            </ns1:r>
          </ns1:p>
        </ns0:txBody>
      </ns0:sp>
      <ns0:sp>
        <ns0:nvSpPr>
          <ns0:cNvPr id="33" name="txt33"/>
          <ns0:cNvSpPr txBox="1"/>
          <ns0:nvPr/>
        </ns0:nvSpPr>
        <ns0:spPr>
          <ns1:xfrm>
            <ns1:off x="274320" y="3657600"/>
            <ns1:ext cx="5303520" cy="1554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Обрезка неба и капота → ROI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Resize → 66×200 (NVIDIA PilotNet формат)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BGR → YUV (устойчивее к освещению)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Нормализация пикселей → [−1, 1]</ns1:t>
            </ns1:r>
          </ns1:p>
        </ns0:txBody>
      </ns0:sp>
      <ns0:sp>
        <ns0:nvSpPr>
          <ns0:cNvPr id="40" name="txt40"/>
          <ns0:cNvSpPr txBox="1"/>
          <ns0:nvPr/>
        </ns0:nvSpPr>
        <ns0:spPr>
          <ns1:xfrm>
            <ns1:off x="6217920" y="1051560"/>
            <ns1:ext cx="548640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Аугментация и балансировка</ns1:t>
            </ns1:r>
          </ns1:p>
        </ns0:txBody>
      </ns0:sp>
      <ns0:sp>
        <ns0:nvSpPr>
          <ns0:cNvPr id="41" name="txt41"/>
          <ns0:cNvSpPr txBox="1"/>
          <ns0:nvPr/>
        </ns0:nvSpPr>
        <ns0:spPr>
          <ns1:xfrm>
            <ns1:off x="6217920" y="1481328"/>
            <ns1:ext cx="5486400" cy="21031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Горизонтальный flip + инверсия угла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Яркость / сдвиг / тень — случайно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Коррекция угла ±0.25 для боковых камер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Срез пиков нулевого угла (прямая езда)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Итого: ~3× разнообразнее</ns1:t>
            </ns1:r>
          </ns1:p>
        </ns0:txBody>
      </ns0:sp>
      <ns0:sp>
        <ns0:nvSpPr>
          <ns0:cNvPr id="50" name="rect50"/>
          <ns0:cNvSpPr txBox="1"/>
          <ns0:nvPr/>
        </ns0:nvSpPr>
        <ns0:spPr>
          <ns1:xfrm>
            <ns1:off x="6217920" y="3840480"/>
            <ns1:ext cx="5486400" cy="1920240"/>
          </ns1:xfrm>
          <ns1:prstGeom prst="rect">
            <ns1:avLst/>
          </ns1:prstGeom>
          <ns1:solidFill>
            <ns1:srgbClr val="060F1A"/>
          </ns1:solidFill>
          <ns1:ln w="1270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51" name="txt51"/>
          <ns0:cNvSpPr txBox="1"/>
          <ns0:nvPr/>
        </ns0:nvSpPr>
        <ns0:spPr>
          <ns1:xfrm>
            <ns1:off x="6400800" y="3977639"/>
            <ns1:ext cx="5120640" cy="1645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300" b="0" i="0" dirty="0">
                <ns1:solidFill>
                  <ns1:srgbClr val="B0C4DE"/>
                </ns1:solidFill>
                <ns1:latin typeface="Calibri"/>
              </ns1:rPr>
              <ns1:t>left (−0.25)     center (0)     right (+0.25)</ns1:t>
            </ns1:r>
          </ns1:p>
          <ns1:p>
            <ns1:pPr algn="ctr"/>
            <ns1:r>
              <ns1:rPr lang="ru-RU" sz="1300" b="0" i="0" dirty="0">
                <ns1:solidFill>
                  <ns1:srgbClr val="B0C4DE"/>
                </ns1:solidFill>
                <ns1:latin typeface="Calibri"/>
              </ns1:rPr>
              <ns1:t>       ←──────────────────────→</ns1:t>
            </ns1:r>
          </ns1:p>
          <ns1:p>
            <ns1:pPr algn="ctr"/>
            <ns1:r>
              <ns1:rPr lang="ru-RU" sz="1300" b="0" i="0" dirty="0">
                <ns1:solidFill>
                  <ns1:srgbClr val="B0C4DE"/>
                </ns1:solidFill>
                <ns1:latin typeface="Calibri"/>
              </ns1:rPr>
              <ns1:t>  Угол корректируется для боковых камер</ns1:t>
            </ns1: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 xmlns:a="http://schemas.openxmlformats.org/drawingml/2006/main" xmlns:p="http://schemas.openxmlformats.org/presentationml/2006/main" xmlns:r="http://schemas.openxmlformats.org/officeDocument/2006/relationships">
  <ns0:cSld>
    <ns0:bg>
      <ns0:bgPr>
        <ns1:solidFill>
          <ns1:srgbClr val="0D1B2A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x="12192000" cx="12192000" cy="6858000"/>
          <ns1:chOff x="0" y="0"/>
          <ns1:chExt x="12192000" cx="12192000" cy="6858000"/>
        </ns1:xfrm>
      </ns0:grpSpPr>
      <ns0:sp>
        <ns0:nvSpPr>
          <ns0:cNvPr id="10" name="rect10"/>
          <ns0:cNvSpPr txBox="1"/>
          <ns0:nvPr/>
        </ns0:nvSpPr>
        <ns0:spPr>
          <ns1:xfrm>
            <ns1:off x="0" y="0"/>
            <ns1:ext cx="109728" cy="68580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" name="txt20"/>
          <ns0:cNvSpPr txBox="1"/>
          <ns0:nvPr/>
        </ns0:nvSpPr>
        <ns0:spPr>
          <ns1:xfrm>
            <ns1:off x="274320" y="182880"/>
            <ns1:ext cx="10972800" cy="6400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2800" b="1" i="0" dirty="0">
                <ns1:solidFill>
                  <ns1:srgbClr val="00B4D8"/>
                </ns1:solidFill>
                <ns1:latin typeface="Calibri"/>
              </ns1:rPr>
              <ns1:t>Архитектура — NVIDIA PilotNet</ns1:t>
            </ns1:r>
          </ns1:p>
        </ns0:txBody>
      </ns0:sp>
      <ns0:sp>
        <ns0:nvSpPr>
          <ns0:cNvPr id="21" name="rect21"/>
          <ns0:cNvSpPr txBox="1"/>
          <ns0:nvPr/>
        </ns0:nvSpPr>
        <ns0:spPr>
          <ns1:xfrm>
            <ns1:off x="274320" y="868680"/>
            <ns1:ext cx="4572000" cy="36576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2" name="txt22"/>
          <ns0:cNvSpPr txBox="1"/>
          <ns0:nvPr/>
        </ns0:nvSpPr>
        <ns0:spPr>
          <ns1:xfrm>
            <ns1:off x="274320" y="1005840"/>
            <ns1:ext cx="10972800" cy="3200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1" dirty="0">
                <ns1:solidFill>
                  <ns1:srgbClr val="B0C4DE"/>
                </ns1:solidFill>
                <ns1:latin typeface="Calibri"/>
              </ns1:rPr>
              <ns1:t>Оригинал: NVIDIA (2016) · End-to-End Learning for Self-Driving Cars</ns1:t>
            </ns1:r>
          </ns1:p>
        </ns0:txBody>
      </ns0:sp>
      <ns0:sp>
        <ns0:nvSpPr>
          <ns0:cNvPr id="100" name="rect100"/>
          <ns0:cNvSpPr txBox="1"/>
          <ns0:nvPr/>
        </ns0:nvSpPr>
        <ns0:spPr>
          <ns1:xfrm>
            <ns1:off x="274320" y="1417320"/>
            <ns1:ext cx="5029200" cy="389636"/>
          </ns1:xfrm>
          <ns1:prstGeom prst="rect">
            <ns1:avLst/>
          </ns1:prstGeom>
          <ns1:solidFill>
            <ns1:srgbClr val="007A99"/>
          </ns1:solidFill>
          <ns1:ln w="63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0" name="txt200"/>
          <ns0:cNvSpPr txBox="1"/>
          <ns0:nvPr/>
        </ns0:nvSpPr>
        <ns0:spPr>
          <ns1:xfrm>
            <ns1:off x="411480" y="1455420"/>
            <ns1:ext cx="292608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1" i="0" dirty="0">
                <ns1:solidFill>
                  <ns1:srgbClr val="FFFFFF"/>
                </ns1:solidFill>
                <ns1:latin typeface="Calibri"/>
              </ns1:rPr>
              <ns1:t>Вход: 66×200×3 (YUV)</ns1:t>
            </ns1:r>
          </ns1:p>
        </ns0:txBody>
      </ns0:sp>
      <ns0:sp>
        <ns0:nvSpPr>
          <ns0:cNvPr id="101" name="rect101"/>
          <ns0:cNvSpPr txBox="1"/>
          <ns0:nvPr/>
        </ns0:nvSpPr>
        <ns0:spPr>
          <ns1:xfrm>
            <ns1:off x="274320" y="1819656"/>
            <ns1:ext cx="5029200" cy="389636"/>
          </ns1:xfrm>
          <ns1:prstGeom prst="rect">
            <ns1:avLst/>
          </ns1:prstGeom>
          <ns1:solidFill>
            <ns1:srgbClr val="060F1A"/>
          </ns1:solidFill>
          <ns1:ln w="63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1" name="txt201"/>
          <ns0:cNvSpPr txBox="1"/>
          <ns0:nvPr/>
        </ns0:nvSpPr>
        <ns0:spPr>
          <ns1:xfrm>
            <ns1:off x="411480" y="1857756"/>
            <ns1:ext cx="292608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FFFFFF"/>
                </ns1:solidFill>
                <ns1:latin typeface="Calibri"/>
              </ns1:rPr>
              <ns1:t>Conv2D 5×5 s=2 → 24</ns1:t>
            </ns1:r>
          </ns1:p>
        </ns0:txBody>
      </ns0:sp>
      <ns0:sp>
        <ns0:nvSpPr>
          <ns0:cNvPr id="301" name="txt301"/>
          <ns0:cNvSpPr txBox="1"/>
          <ns0:nvPr/>
        </ns0:nvSpPr>
        <ns0:spPr>
          <ns1:xfrm>
            <ns1:off x="3474720" y="1857756"/>
            <ns1:ext cx="182880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100" b="0" i="0" dirty="0">
                <ns1:solidFill>
                  <ns1:srgbClr val="00B4D8"/>
                </ns1:solidFill>
                <ns1:latin typeface="Calibri"/>
              </ns1:rPr>
              <ns1:t>BatchNorm + ELU</ns1:t>
            </ns1:r>
          </ns1:p>
        </ns0:txBody>
      </ns0:sp>
      <ns0:sp>
        <ns0:nvSpPr>
          <ns0:cNvPr id="102" name="rect102"/>
          <ns0:cNvSpPr txBox="1"/>
          <ns0:nvPr/>
        </ns0:nvSpPr>
        <ns0:spPr>
          <ns1:xfrm>
            <ns1:off x="274320" y="2221992"/>
            <ns1:ext cx="5029200" cy="389636"/>
          </ns1:xfrm>
          <ns1:prstGeom prst="rect">
            <ns1:avLst/>
          </ns1:prstGeom>
          <ns1:solidFill>
            <ns1:srgbClr val="060F1A"/>
          </ns1:solidFill>
          <ns1:ln w="63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2" name="txt202"/>
          <ns0:cNvSpPr txBox="1"/>
          <ns0:nvPr/>
        </ns0:nvSpPr>
        <ns0:spPr>
          <ns1:xfrm>
            <ns1:off x="411480" y="2260092"/>
            <ns1:ext cx="292608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FFFFFF"/>
                </ns1:solidFill>
                <ns1:latin typeface="Calibri"/>
              </ns1:rPr>
              <ns1:t>Conv2D 5×5 s=2 → 36</ns1:t>
            </ns1:r>
          </ns1:p>
        </ns0:txBody>
      </ns0:sp>
      <ns0:sp>
        <ns0:nvSpPr>
          <ns0:cNvPr id="302" name="txt302"/>
          <ns0:cNvSpPr txBox="1"/>
          <ns0:nvPr/>
        </ns0:nvSpPr>
        <ns0:spPr>
          <ns1:xfrm>
            <ns1:off x="3474720" y="2260092"/>
            <ns1:ext cx="182880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100" b="0" i="0" dirty="0">
                <ns1:solidFill>
                  <ns1:srgbClr val="00B4D8"/>
                </ns1:solidFill>
                <ns1:latin typeface="Calibri"/>
              </ns1:rPr>
              <ns1:t>BatchNorm + ELU</ns1:t>
            </ns1:r>
          </ns1:p>
        </ns0:txBody>
      </ns0:sp>
      <ns0:sp>
        <ns0:nvSpPr>
          <ns0:cNvPr id="103" name="rect103"/>
          <ns0:cNvSpPr txBox="1"/>
          <ns0:nvPr/>
        </ns0:nvSpPr>
        <ns0:spPr>
          <ns1:xfrm>
            <ns1:off x="274320" y="2624328"/>
            <ns1:ext cx="5029200" cy="389636"/>
          </ns1:xfrm>
          <ns1:prstGeom prst="rect">
            <ns1:avLst/>
          </ns1:prstGeom>
          <ns1:solidFill>
            <ns1:srgbClr val="060F1A"/>
          </ns1:solidFill>
          <ns1:ln w="63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3" name="txt203"/>
          <ns0:cNvSpPr txBox="1"/>
          <ns0:nvPr/>
        </ns0:nvSpPr>
        <ns0:spPr>
          <ns1:xfrm>
            <ns1:off x="411480" y="2662428"/>
            <ns1:ext cx="292608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FFFFFF"/>
                </ns1:solidFill>
                <ns1:latin typeface="Calibri"/>
              </ns1:rPr>
              <ns1:t>Conv2D 5×5 s=2 → 48</ns1:t>
            </ns1:r>
          </ns1:p>
        </ns0:txBody>
      </ns0:sp>
      <ns0:sp>
        <ns0:nvSpPr>
          <ns0:cNvPr id="303" name="txt303"/>
          <ns0:cNvSpPr txBox="1"/>
          <ns0:nvPr/>
        </ns0:nvSpPr>
        <ns0:spPr>
          <ns1:xfrm>
            <ns1:off x="3474720" y="2662428"/>
            <ns1:ext cx="182880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100" b="0" i="0" dirty="0">
                <ns1:solidFill>
                  <ns1:srgbClr val="00B4D8"/>
                </ns1:solidFill>
                <ns1:latin typeface="Calibri"/>
              </ns1:rPr>
              <ns1:t>BatchNorm + ELU</ns1:t>
            </ns1:r>
          </ns1:p>
        </ns0:txBody>
      </ns0:sp>
      <ns0:sp>
        <ns0:nvSpPr>
          <ns0:cNvPr id="104" name="rect104"/>
          <ns0:cNvSpPr txBox="1"/>
          <ns0:nvPr/>
        </ns0:nvSpPr>
        <ns0:spPr>
          <ns1:xfrm>
            <ns1:off x="274320" y="3026664"/>
            <ns1:ext cx="5029200" cy="389636"/>
          </ns1:xfrm>
          <ns1:prstGeom prst="rect">
            <ns1:avLst/>
          </ns1:prstGeom>
          <ns1:solidFill>
            <ns1:srgbClr val="060F1A"/>
          </ns1:solidFill>
          <ns1:ln w="63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4" name="txt204"/>
          <ns0:cNvSpPr txBox="1"/>
          <ns0:nvPr/>
        </ns0:nvSpPr>
        <ns0:spPr>
          <ns1:xfrm>
            <ns1:off x="411480" y="3064764"/>
            <ns1:ext cx="292608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FFFFFF"/>
                </ns1:solidFill>
                <ns1:latin typeface="Calibri"/>
              </ns1:rPr>
              <ns1:t>Conv2D 3×3 → 64</ns1:t>
            </ns1:r>
          </ns1:p>
        </ns0:txBody>
      </ns0:sp>
      <ns0:sp>
        <ns0:nvSpPr>
          <ns0:cNvPr id="304" name="txt304"/>
          <ns0:cNvSpPr txBox="1"/>
          <ns0:nvPr/>
        </ns0:nvSpPr>
        <ns0:spPr>
          <ns1:xfrm>
            <ns1:off x="3474720" y="3064764"/>
            <ns1:ext cx="182880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100" b="0" i="0" dirty="0">
                <ns1:solidFill>
                  <ns1:srgbClr val="00B4D8"/>
                </ns1:solidFill>
                <ns1:latin typeface="Calibri"/>
              </ns1:rPr>
              <ns1:t>BatchNorm + ELU</ns1:t>
            </ns1:r>
          </ns1:p>
        </ns0:txBody>
      </ns0:sp>
      <ns0:sp>
        <ns0:nvSpPr>
          <ns0:cNvPr id="105" name="rect105"/>
          <ns0:cNvSpPr txBox="1"/>
          <ns0:nvPr/>
        </ns0:nvSpPr>
        <ns0:spPr>
          <ns1:xfrm>
            <ns1:off x="274320" y="3429000"/>
            <ns1:ext cx="5029200" cy="389636"/>
          </ns1:xfrm>
          <ns1:prstGeom prst="rect">
            <ns1:avLst/>
          </ns1:prstGeom>
          <ns1:solidFill>
            <ns1:srgbClr val="060F1A"/>
          </ns1:solidFill>
          <ns1:ln w="63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5" name="txt205"/>
          <ns0:cNvSpPr txBox="1"/>
          <ns0:nvPr/>
        </ns0:nvSpPr>
        <ns0:spPr>
          <ns1:xfrm>
            <ns1:off x="411480" y="3467100"/>
            <ns1:ext cx="292608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FFFFFF"/>
                </ns1:solidFill>
                <ns1:latin typeface="Calibri"/>
              </ns1:rPr>
              <ns1:t>Conv2D 3×3 → 64</ns1:t>
            </ns1:r>
          </ns1:p>
        </ns0:txBody>
      </ns0:sp>
      <ns0:sp>
        <ns0:nvSpPr>
          <ns0:cNvPr id="305" name="txt305"/>
          <ns0:cNvSpPr txBox="1"/>
          <ns0:nvPr/>
        </ns0:nvSpPr>
        <ns0:spPr>
          <ns1:xfrm>
            <ns1:off x="3474720" y="3467100"/>
            <ns1:ext cx="182880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100" b="0" i="0" dirty="0">
                <ns1:solidFill>
                  <ns1:srgbClr val="00B4D8"/>
                </ns1:solidFill>
                <ns1:latin typeface="Calibri"/>
              </ns1:rPr>
              <ns1:t>BatchNorm + ELU</ns1:t>
            </ns1:r>
          </ns1:p>
        </ns0:txBody>
      </ns0:sp>
      <ns0:sp>
        <ns0:nvSpPr>
          <ns0:cNvPr id="106" name="rect106"/>
          <ns0:cNvSpPr txBox="1"/>
          <ns0:nvPr/>
        </ns0:nvSpPr>
        <ns0:spPr>
          <ns1:xfrm>
            <ns1:off x="274320" y="3831336"/>
            <ns1:ext cx="5029200" cy="389636"/>
          </ns1:xfrm>
          <ns1:prstGeom prst="rect">
            <ns1:avLst/>
          </ns1:prstGeom>
          <ns1:solidFill>
            <ns1:srgbClr val="060F1A"/>
          </ns1:solidFill>
          <ns1:ln w="63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6" name="txt206"/>
          <ns0:cNvSpPr txBox="1"/>
          <ns0:nvPr/>
        </ns0:nvSpPr>
        <ns0:spPr>
          <ns1:xfrm>
            <ns1:off x="411480" y="3869436"/>
            <ns1:ext cx="292608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FFFFFF"/>
                </ns1:solidFill>
                <ns1:latin typeface="Calibri"/>
              </ns1:rPr>
              <ns1:t>Flatten → 1152</ns1:t>
            </ns1:r>
          </ns1:p>
        </ns0:txBody>
      </ns0:sp>
      <ns0:sp>
        <ns0:nvSpPr>
          <ns0:cNvPr id="107" name="rect107"/>
          <ns0:cNvSpPr txBox="1"/>
          <ns0:nvPr/>
        </ns0:nvSpPr>
        <ns0:spPr>
          <ns1:xfrm>
            <ns1:off x="274320" y="4233672"/>
            <ns1:ext cx="5029200" cy="389636"/>
          </ns1:xfrm>
          <ns1:prstGeom prst="rect">
            <ns1:avLst/>
          </ns1:prstGeom>
          <ns1:solidFill>
            <ns1:srgbClr val="060F1A"/>
          </ns1:solidFill>
          <ns1:ln w="63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7" name="txt207"/>
          <ns0:cNvSpPr txBox="1"/>
          <ns0:nvPr/>
        </ns0:nvSpPr>
        <ns0:spPr>
          <ns1:xfrm>
            <ns1:off x="411480" y="4271772"/>
            <ns1:ext cx="292608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FFFFFF"/>
                </ns1:solidFill>
                <ns1:latin typeface="Calibri"/>
              </ns1:rPr>
              <ns1:t>Dropout(0.5) → FC 100</ns1:t>
            </ns1:r>
          </ns1:p>
        </ns0:txBody>
      </ns0:sp>
      <ns0:sp>
        <ns0:nvSpPr>
          <ns0:cNvPr id="307" name="txt307"/>
          <ns0:cNvSpPr txBox="1"/>
          <ns0:nvPr/>
        </ns0:nvSpPr>
        <ns0:spPr>
          <ns1:xfrm>
            <ns1:off x="3474720" y="4271772"/>
            <ns1:ext cx="182880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100" b="0" i="0" dirty="0">
                <ns1:solidFill>
                  <ns1:srgbClr val="00B4D8"/>
                </ns1:solidFill>
                <ns1:latin typeface="Calibri"/>
              </ns1:rPr>
              <ns1:t>ELU</ns1:t>
            </ns1:r>
          </ns1:p>
        </ns0:txBody>
      </ns0:sp>
      <ns0:sp>
        <ns0:nvSpPr>
          <ns0:cNvPr id="108" name="rect108"/>
          <ns0:cNvSpPr txBox="1"/>
          <ns0:nvPr/>
        </ns0:nvSpPr>
        <ns0:spPr>
          <ns1:xfrm>
            <ns1:off x="274320" y="4636008"/>
            <ns1:ext cx="5029200" cy="389636"/>
          </ns1:xfrm>
          <ns1:prstGeom prst="rect">
            <ns1:avLst/>
          </ns1:prstGeom>
          <ns1:solidFill>
            <ns1:srgbClr val="060F1A"/>
          </ns1:solidFill>
          <ns1:ln w="63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8" name="txt208"/>
          <ns0:cNvSpPr txBox="1"/>
          <ns0:nvPr/>
        </ns0:nvSpPr>
        <ns0:spPr>
          <ns1:xfrm>
            <ns1:off x="411480" y="4674108"/>
            <ns1:ext cx="292608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FFFFFF"/>
                </ns1:solidFill>
                <ns1:latin typeface="Calibri"/>
              </ns1:rPr>
              <ns1:t>Dropout(0.25) → FC 50</ns1:t>
            </ns1:r>
          </ns1:p>
        </ns0:txBody>
      </ns0:sp>
      <ns0:sp>
        <ns0:nvSpPr>
          <ns0:cNvPr id="308" name="txt308"/>
          <ns0:cNvSpPr txBox="1"/>
          <ns0:nvPr/>
        </ns0:nvSpPr>
        <ns0:spPr>
          <ns1:xfrm>
            <ns1:off x="3474720" y="4674108"/>
            <ns1:ext cx="182880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100" b="0" i="0" dirty="0">
                <ns1:solidFill>
                  <ns1:srgbClr val="00B4D8"/>
                </ns1:solidFill>
                <ns1:latin typeface="Calibri"/>
              </ns1:rPr>
              <ns1:t>ELU</ns1:t>
            </ns1:r>
          </ns1:p>
        </ns0:txBody>
      </ns0:sp>
      <ns0:sp>
        <ns0:nvSpPr>
          <ns0:cNvPr id="109" name="rect109"/>
          <ns0:cNvSpPr txBox="1"/>
          <ns0:nvPr/>
        </ns0:nvSpPr>
        <ns0:spPr>
          <ns1:xfrm>
            <ns1:off x="274320" y="5038344"/>
            <ns1:ext cx="5029200" cy="389636"/>
          </ns1:xfrm>
          <ns1:prstGeom prst="rect">
            <ns1:avLst/>
          </ns1:prstGeom>
          <ns1:solidFill>
            <ns1:srgbClr val="060F1A"/>
          </ns1:solidFill>
          <ns1:ln w="63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9" name="txt209"/>
          <ns0:cNvSpPr txBox="1"/>
          <ns0:nvPr/>
        </ns0:nvSpPr>
        <ns0:spPr>
          <ns1:xfrm>
            <ns1:off x="411480" y="5076444"/>
            <ns1:ext cx="292608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FFFFFF"/>
                </ns1:solidFill>
                <ns1:latin typeface="Calibri"/>
              </ns1:rPr>
              <ns1:t>FC 10 → ELU → FC 1</ns1:t>
            </ns1:r>
          </ns1:p>
        </ns0:txBody>
      </ns0:sp>
      <ns0:sp>
        <ns0:nvSpPr>
          <ns0:cNvPr id="309" name="txt309"/>
          <ns0:cNvSpPr txBox="1"/>
          <ns0:nvPr/>
        </ns0:nvSpPr>
        <ns0:spPr>
          <ns1:xfrm>
            <ns1:off x="3474720" y="5076444"/>
            <ns1:ext cx="182880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100" b="0" i="0" dirty="0">
                <ns1:solidFill>
                  <ns1:srgbClr val="00B4D8"/>
                </ns1:solidFill>
                <ns1:latin typeface="Calibri"/>
              </ns1:rPr>
              <ns1:t>→ Tanh</ns1:t>
            </ns1:r>
          </ns1:p>
        </ns0:txBody>
      </ns0:sp>
      <ns0:sp>
        <ns0:nvSpPr>
          <ns0:cNvPr id="110" name="rect110"/>
          <ns0:cNvSpPr txBox="1"/>
          <ns0:nvPr/>
        </ns0:nvSpPr>
        <ns0:spPr>
          <ns1:xfrm>
            <ns1:off x="274320" y="5440680"/>
            <ns1:ext cx="5029200" cy="389636"/>
          </ns1:xfrm>
          <ns1:prstGeom prst="rect">
            <ns1:avLst/>
          </ns1:prstGeom>
          <ns1:solidFill>
            <ns1:srgbClr val="007A99"/>
          </ns1:solidFill>
          <ns1:ln w="63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10" name="txt210"/>
          <ns0:cNvSpPr txBox="1"/>
          <ns0:nvPr/>
        </ns0:nvSpPr>
        <ns0:spPr>
          <ns1:xfrm>
            <ns1:off x="411480" y="5478780"/>
            <ns1:ext cx="2926080" cy="402336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1" i="0" dirty="0">
                <ns1:solidFill>
                  <ns1:srgbClr val="FFFFFF"/>
                </ns1:solidFill>
                <ns1:latin typeface="Calibri"/>
              </ns1:rPr>
              <ns1:t>Выход: угол ∈ [−1,1]</ns1:t>
            </ns1:r>
          </ns1:p>
        </ns0:txBody>
      </ns0:sp>
      <ns0:sp>
        <ns0:nvSpPr>
          <ns0:cNvPr id="50" name="txt50"/>
          <ns0:cNvSpPr txBox="1"/>
          <ns0:nvPr/>
        </ns0:nvSpPr>
        <ns0:spPr>
          <ns1:xfrm>
            <ns1:off x="6217920" y="1051560"/>
            <ns1:ext cx="548640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Ключевые решения</ns1:t>
            </ns1:r>
          </ns1:p>
        </ns0:txBody>
      </ns0:sp>
      <ns0:sp>
        <ns0:nvSpPr>
          <ns0:cNvPr id="51" name="txt51"/>
          <ns0:cNvSpPr txBox="1"/>
          <ns0:nvPr/>
        </ns0:nvSpPr>
        <ns0:spPr>
          <ns1:xfrm>
            <ns1:off x="6217920" y="1481328"/>
            <ns1:ext cx="5486400" cy="24688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BatchNorm — стабилизирует обучение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ELU вместо ReLU — нет «мёртвых» нейронов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Dropout 50% / 25% — против переобучения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Tanh на выходе → [−1, 1]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Adam + ReduceLROnPlateau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EarlyStopping patience=10</ns1:t>
            </ns1:r>
          </ns1:p>
        </ns0:txBody>
      </ns0:sp>
      <ns0:sp>
        <ns0:nvSpPr>
          <ns0:cNvPr id="60" name="rect60"/>
          <ns0:cNvSpPr txBox="1"/>
          <ns0:nvPr/>
        </ns0:nvSpPr>
        <ns0:spPr>
          <ns1:xfrm>
            <ns1:off x="6217920" y="4206240"/>
            <ns1:ext cx="5486400" cy="1554480"/>
          </ns1:xfrm>
          <ns1:prstGeom prst="rect">
            <ns1:avLst/>
          </ns1:prstGeom>
          <ns1:solidFill>
            <ns1:srgbClr val="060F1A"/>
          </ns1:solidFill>
          <ns1:ln w="1270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61" name="txt61"/>
          <ns0:cNvSpPr txBox="1"/>
          <ns0:nvPr/>
        </ns0:nvSpPr>
        <ns0:spPr>
          <ns1:xfrm>
            <ns1:off x="6400800" y="4343400"/>
            <ns1:ext cx="5120640" cy="12801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Параметры обучения</ns1:t>
            </ns1:r>
          </ns1:p>
          <ns1:p>
            <ns1:pPr algn="l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Optimizer: Adam  |  LR = 1×10⁻³</ns1:t>
            </ns1:r>
          </ns1:p>
          <ns1:p>
            <ns1:pPr algn="l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Loss: MSE  |  Batch = 128</ns1:t>
            </ns1:r>
          </ns1:p>
          <ns1:p>
            <ns1:pPr algn="l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Epochs: до 50  |  ~560 000 параметров</ns1:t>
            </ns1:r>
          </ns1:p>
        </ns0:txBody>
      </ns0:sp>
    </ns0:spTree>
  </ns0:cSld>
  <ns0:clrMapOvr>
    <ns1:masterClrMapping/>
  </ns0:clrMapOvr>
</ns0:sld>
</file>

<file path=ppt/slides/slide6.xml><?xml version="1.0" encoding="utf-8"?>
<ns0:sld xmlns:ns0="http://schemas.openxmlformats.org/presentationml/2006/main" xmlns:ns1="http://schemas.openxmlformats.org/drawingml/2006/main" xmlns:a="http://schemas.openxmlformats.org/drawingml/2006/main" xmlns:p="http://schemas.openxmlformats.org/presentationml/2006/main" xmlns:r="http://schemas.openxmlformats.org/officeDocument/2006/relationships">
  <ns0:cSld>
    <ns0:bg>
      <ns0:bgPr>
        <ns1:solidFill>
          <ns1:srgbClr val="0D1B2A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x="12192000" cx="12192000" cy="6858000"/>
          <ns1:chOff x="0" y="0"/>
          <ns1:chExt x="12192000" cx="12192000" cy="6858000"/>
        </ns1:xfrm>
      </ns0:grpSpPr>
      <ns0:sp>
        <ns0:nvSpPr>
          <ns0:cNvPr id="10" name="rect10"/>
          <ns0:cNvSpPr txBox="1"/>
          <ns0:nvPr/>
        </ns0:nvSpPr>
        <ns0:spPr>
          <ns1:xfrm>
            <ns1:off x="0" y="0"/>
            <ns1:ext cx="109728" cy="68580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" name="txt20"/>
          <ns0:cNvSpPr txBox="1"/>
          <ns0:nvPr/>
        </ns0:nvSpPr>
        <ns0:spPr>
          <ns1:xfrm>
            <ns1:off x="274320" y="182880"/>
            <ns1:ext cx="10972800" cy="6400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2800" b="1" i="0" dirty="0">
                <ns1:solidFill>
                  <ns1:srgbClr val="00B4D8"/>
                </ns1:solidFill>
                <ns1:latin typeface="Calibri"/>
              </ns1:rPr>
              <ns1:t>Вклад автора</ns1:t>
            </ns1:r>
          </ns1:p>
        </ns0:txBody>
      </ns0:sp>
      <ns0:sp>
        <ns0:nvSpPr>
          <ns0:cNvPr id="21" name="rect21"/>
          <ns0:cNvSpPr txBox="1"/>
          <ns0:nvPr/>
        </ns0:nvSpPr>
        <ns0:spPr>
          <ns1:xfrm>
            <ns1:off x="274320" y="868680"/>
            <ns1:ext cx="4572000" cy="36576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30" name="txt30"/>
          <ns0:cNvSpPr txBox="1"/>
          <ns0:nvPr/>
        </ns0:nvSpPr>
        <ns0:spPr>
          <ns1:xfrm>
            <ns1:off x="274320" y="1005840"/>
            <ns1:ext cx="530352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600" b="1" i="0" dirty="0">
                <ns1:solidFill>
                  <ns1:srgbClr val="B0C4DE"/>
                </ns1:solidFill>
                <ns1:latin typeface="Calibri"/>
              </ns1:rPr>
              <ns1:t>Что взято из литературы</ns1:t>
            </ns1:r>
          </ns1:p>
        </ns0:txBody>
      </ns0:sp>
      <ns0:sp>
        <ns0:nvSpPr>
          <ns0:cNvPr id="31" name="txt31"/>
          <ns0:cNvSpPr txBox="1"/>
          <ns0:nvPr/>
        </ns0:nvSpPr>
        <ns0:spPr>
          <ns1:xfrm>
            <ns1:off x="274320" y="1463040"/>
            <ns1:ext cx="5303520" cy="12801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B0C4DE"/>
                </ns1:solidFill>
                <ns1:latin typeface="Calibri"/>
              </ns1:rPr>
              <ns1:t>•  Архитектура PilotNet (NVIDIA, 2016)</ns1:t>
            </ns1:r>
          </ns1:p>
          <ns1:p>
            <ns1:pPr algn="l"/>
            <ns1:r>
              <ns1:rPr lang="ru-RU" sz="1500" b="0" i="0" dirty="0">
                <ns1:solidFill>
                  <ns1:srgbClr val="B0C4DE"/>
                </ns1:solidFill>
                <ns1:latin typeface="Calibri"/>
              </ns1:rPr>
              <ns1:t>•  Метод Behavioral Cloning</ns1:t>
            </ns1:r>
          </ns1:p>
          <ns1:p>
            <ns1:pPr algn="l"/>
            <ns1:r>
              <ns1:rPr lang="ru-RU" sz="1500" b="0" i="0" dirty="0">
                <ns1:solidFill>
                  <ns1:srgbClr val="B0C4DE"/>
                </ns1:solidFill>
                <ns1:latin typeface="Calibri"/>
              </ns1:rPr>
              <ns1:t>•  Датасет: Udacity Simulator Challenge</ns1:t>
            </ns1:r>
          </ns1:p>
        </ns0:txBody>
      </ns0:sp>
      <ns0:sp>
        <ns0:nvSpPr>
          <ns0:cNvPr id="32" name="rect32"/>
          <ns0:cNvSpPr txBox="1"/>
          <ns0:nvPr/>
        </ns0:nvSpPr>
        <ns0:spPr>
          <ns1:xfrm>
            <ns1:off x="274320" y="2788920"/>
            <ns1:ext cx="5303520" cy="36576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33" name="txt33"/>
          <ns0:cNvSpPr txBox="1"/>
          <ns0:nvPr/>
        </ns0:nvSpPr>
        <ns0:spPr>
          <ns1:xfrm>
            <ns1:off x="274320" y="2926080"/>
            <ns1:ext cx="1143000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Авторские доработки и реализация</ns1:t>
            </ns1:r>
          </ns1:p>
        </ns0:txBody>
      </ns0:sp>
      <ns0:sp>
        <ns0:nvSpPr>
          <ns0:cNvPr id="400" name="rect400"/>
          <ns0:cNvSpPr txBox="1"/>
          <ns0:nvPr/>
        </ns0:nvSpPr>
        <ns0:spPr>
          <ns1:xfrm>
            <ns1:off x="274320" y="3454400"/>
            <ns1:ext cx="88900" cy="889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500" name="txt500"/>
          <ns0:cNvSpPr txBox="1"/>
          <ns0:nvPr/>
        </ns0:nvSpPr>
        <ns0:spPr>
          <ns1:xfrm>
            <ns1:off x="548640" y="3429000"/>
            <ns1:ext cx="5760720" cy="3200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1" i="0" dirty="0">
                <ns1:solidFill>
                  <ns1:srgbClr val="FFFFFF"/>
                </ns1:solidFill>
                <ns1:latin typeface="Calibri"/>
              </ns1:rPr>
              <ns1:t>PyTorch-реализация PilotNet с нуля</ns1:t>
            </ns1:r>
          </ns1:p>
        </ns0:txBody>
      </ns0:sp>
      <ns0:sp>
        <ns0:nvSpPr>
          <ns0:cNvPr id="600" name="txt600"/>
          <ns0:cNvSpPr txBox="1"/>
          <ns0:nvPr/>
        </ns0:nvSpPr>
        <ns0:spPr>
          <ns1:xfrm>
            <ns1:off x="548640" y="3685032"/>
            <ns1:ext cx="11247120" cy="2743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    BatchNorm + ELU + Dropout — не в оригинале</ns1:t>
            </ns1:r>
          </ns1:p>
        </ns0:txBody>
      </ns0:sp>
      <ns0:sp>
        <ns0:nvSpPr>
          <ns0:cNvPr id="401" name="rect401"/>
          <ns0:cNvSpPr txBox="1"/>
          <ns0:nvPr/>
        </ns0:nvSpPr>
        <ns0:spPr>
          <ns1:xfrm>
            <ns1:off x="274320" y="3966464"/>
            <ns1:ext cx="88900" cy="889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501" name="txt501"/>
          <ns0:cNvSpPr txBox="1"/>
          <ns0:nvPr/>
        </ns0:nvSpPr>
        <ns0:spPr>
          <ns1:xfrm>
            <ns1:off x="548640" y="3941064"/>
            <ns1:ext cx="5760720" cy="3200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1" i="0" dirty="0">
                <ns1:solidFill>
                  <ns1:srgbClr val="FFFFFF"/>
                </ns1:solidFill>
                <ns1:latin typeface="Calibri"/>
              </ns1:rPr>
              <ns1:t>DataLoader с тройной камерой</ns1:t>
            </ns1:r>
          </ns1:p>
        </ns0:txBody>
      </ns0:sp>
      <ns0:sp>
        <ns0:nvSpPr>
          <ns0:cNvPr id="601" name="txt601"/>
          <ns0:cNvSpPr txBox="1"/>
          <ns0:nvPr/>
        </ns0:nvSpPr>
        <ns0:spPr>
          <ns1:xfrm>
            <ns1:off x="548640" y="4197096"/>
            <ns1:ext cx="11247120" cy="2743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    Угловая коррекция ±0.25, балансировка гистограммы</ns1:t>
            </ns1:r>
          </ns1:p>
        </ns0:txBody>
      </ns0:sp>
      <ns0:sp>
        <ns0:nvSpPr>
          <ns0:cNvPr id="402" name="rect402"/>
          <ns0:cNvSpPr txBox="1"/>
          <ns0:nvPr/>
        </ns0:nvSpPr>
        <ns0:spPr>
          <ns1:xfrm>
            <ns1:off x="274320" y="4478528"/>
            <ns1:ext cx="88900" cy="889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502" name="txt502"/>
          <ns0:cNvSpPr txBox="1"/>
          <ns0:nvPr/>
        </ns0:nvSpPr>
        <ns0:spPr>
          <ns1:xfrm>
            <ns1:off x="548640" y="4453128"/>
            <ns1:ext cx="5760720" cy="3200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1" i="0" dirty="0">
                <ns1:solidFill>
                  <ns1:srgbClr val="FFFFFF"/>
                </ns1:solidFill>
                <ns1:latin typeface="Calibri"/>
              </ns1:rPr>
              <ns1:t>Расширенная аугментация</ns1:t>
            </ns1:r>
          </ns1:p>
        </ns0:txBody>
      </ns0:sp>
      <ns0:sp>
        <ns0:nvSpPr>
          <ns0:cNvPr id="602" name="txt602"/>
          <ns0:cNvSpPr txBox="1"/>
          <ns0:nvPr/>
        </ns0:nvSpPr>
        <ns0:spPr>
          <ns1:xfrm>
            <ns1:off x="548640" y="4709160"/>
            <ns1:ext cx="11247120" cy="2743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    Яркость, сдвиг, тень, flip — весь пайплайн собственный</ns1:t>
            </ns1:r>
          </ns1:p>
        </ns0:txBody>
      </ns0:sp>
      <ns0:sp>
        <ns0:nvSpPr>
          <ns0:cNvPr id="403" name="rect403"/>
          <ns0:cNvSpPr txBox="1"/>
          <ns0:nvPr/>
        </ns0:nvSpPr>
        <ns0:spPr>
          <ns1:xfrm>
            <ns1:off x="274320" y="4990592"/>
            <ns1:ext cx="88900" cy="889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503" name="txt503"/>
          <ns0:cNvSpPr txBox="1"/>
          <ns0:nvPr/>
        </ns0:nvSpPr>
        <ns0:spPr>
          <ns1:xfrm>
            <ns1:off x="548640" y="4965192"/>
            <ns1:ext cx="5760720" cy="3200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1" i="0" dirty="0">
                <ns1:solidFill>
                  <ns1:srgbClr val="FFFFFF"/>
                </ns1:solidFill>
                <ns1:latin typeface="Calibri"/>
              </ns1:rPr>
              <ns1:t>Цикл обучения и мониторинг</ns1:t>
            </ns1:r>
          </ns1:p>
        </ns0:txBody>
      </ns0:sp>
      <ns0:sp>
        <ns0:nvSpPr>
          <ns0:cNvPr id="603" name="txt603"/>
          <ns0:cNvSpPr txBox="1"/>
          <ns0:nvPr/>
        </ns0:nvSpPr>
        <ns0:spPr>
          <ns1:xfrm>
            <ns1:off x="548640" y="5221224"/>
            <ns1:ext cx="11247120" cy="2743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    Adam, EarlyStopping, ReduceLR, чекпоинты</ns1:t>
            </ns1:r>
          </ns1:p>
        </ns0:txBody>
      </ns0:sp>
      <ns0:sp>
        <ns0:nvSpPr>
          <ns0:cNvPr id="404" name="rect404"/>
          <ns0:cNvSpPr txBox="1"/>
          <ns0:nvPr/>
        </ns0:nvSpPr>
        <ns0:spPr>
          <ns1:xfrm>
            <ns1:off x="274320" y="5502656"/>
            <ns1:ext cx="88900" cy="889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504" name="txt504"/>
          <ns0:cNvSpPr txBox="1"/>
          <ns0:nvPr/>
        </ns0:nvSpPr>
        <ns0:spPr>
          <ns1:xfrm>
            <ns1:off x="548640" y="5477256"/>
            <ns1:ext cx="5760720" cy="3200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1" i="0" dirty="0">
                <ns1:solidFill>
                  <ns1:srgbClr val="FFFFFF"/>
                </ns1:solidFill>
                <ns1:latin typeface="Calibri"/>
              </ns1:rPr>
              <ns1:t>Интеграция YOLOv8</ns1:t>
            </ns1:r>
          </ns1:p>
        </ns0:txBody>
      </ns0:sp>
      <ns0:sp>
        <ns0:nvSpPr>
          <ns0:cNvPr id="604" name="txt604"/>
          <ns0:cNvSpPr txBox="1"/>
          <ns0:nvPr/>
        </ns0:nvSpPr>
        <ns0:spPr>
          <ns1:xfrm>
            <ns1:off x="548640" y="5733288"/>
            <ns1:ext cx="11247120" cy="2743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    Совместный пайплайн: управление + детекция объектов</ns1:t>
            </ns1:r>
          </ns1:p>
        </ns0:txBody>
      </ns0:sp>
      <ns0:sp>
        <ns0:nvSpPr>
          <ns0:cNvPr id="405" name="rect405"/>
          <ns0:cNvSpPr txBox="1"/>
          <ns0:nvPr/>
        </ns0:nvSpPr>
        <ns0:spPr>
          <ns1:xfrm>
            <ns1:off x="274320" y="6014720"/>
            <ns1:ext cx="88900" cy="889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505" name="txt505"/>
          <ns0:cNvSpPr txBox="1"/>
          <ns0:nvPr/>
        </ns0:nvSpPr>
        <ns0:spPr>
          <ns1:xfrm>
            <ns1:off x="548640" y="5989320"/>
            <ns1:ext cx="5760720" cy="3200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1" i="0" dirty="0">
                <ns1:solidFill>
                  <ns1:srgbClr val="FFFFFF"/>
                </ns1:solidFill>
                <ns1:latin typeface="Calibri"/>
              </ns1:rPr>
              <ns1:t>5 Jupyter-ноутбуков для Colab</ns1:t>
            </ns1:r>
          </ns1:p>
        </ns0:txBody>
      </ns0:sp>
      <ns0:sp>
        <ns0:nvSpPr>
          <ns0:cNvPr id="605" name="txt605"/>
          <ns0:cNvSpPr txBox="1"/>
          <ns0:nvPr/>
        </ns0:nvSpPr>
        <ns0:spPr>
          <ns1:xfrm>
            <ns1:off x="548640" y="6245352"/>
            <ns1:ext cx="11247120" cy="2743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    Автоустановка, воспроизводимость, GPU T4</ns1:t>
            </ns1:r>
          </ns1:p>
        </ns0:txBody>
      </ns0:sp>
    </ns0:spTree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 xmlns:a="http://schemas.openxmlformats.org/drawingml/2006/main" xmlns:p="http://schemas.openxmlformats.org/presentationml/2006/main" xmlns:r="http://schemas.openxmlformats.org/officeDocument/2006/relationships">
  <ns0:cSld>
    <ns0:bg>
      <ns0:bgPr>
        <ns1:solidFill>
          <ns1:srgbClr val="0D1B2A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x="12192000" cx="12192000" cy="6858000"/>
          <ns1:chOff x="0" y="0"/>
          <ns1:chExt x="12192000" cx="12192000" cy="6858000"/>
        </ns1:xfrm>
      </ns0:grpSpPr>
      <ns0:sp>
        <ns0:nvSpPr>
          <ns0:cNvPr id="10" name="rect10"/>
          <ns0:cNvSpPr txBox="1"/>
          <ns0:nvPr/>
        </ns0:nvSpPr>
        <ns0:spPr>
          <ns1:xfrm>
            <ns1:off x="0" y="0"/>
            <ns1:ext cx="109728" cy="68580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" name="txt20"/>
          <ns0:cNvSpPr txBox="1"/>
          <ns0:nvPr/>
        </ns0:nvSpPr>
        <ns0:spPr>
          <ns1:xfrm>
            <ns1:off x="274320" y="182880"/>
            <ns1:ext cx="10972800" cy="6400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2800" b="1" i="0" dirty="0">
                <ns1:solidFill>
                  <ns1:srgbClr val="00B4D8"/>
                </ns1:solidFill>
                <ns1:latin typeface="Calibri"/>
              </ns1:rPr>
              <ns1:t>Детекция объектов — YOLOv8</ns1:t>
            </ns1:r>
          </ns1:p>
        </ns0:txBody>
      </ns0:sp>
      <ns0:sp>
        <ns0:nvSpPr>
          <ns0:cNvPr id="21" name="rect21"/>
          <ns0:cNvSpPr txBox="1"/>
          <ns0:nvPr/>
        </ns0:nvSpPr>
        <ns0:spPr>
          <ns1:xfrm>
            <ns1:off x="274320" y="868680"/>
            <ns1:ext cx="4572000" cy="36576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30" name="txt30"/>
          <ns0:cNvSpPr txBox="1"/>
          <ns0:nvPr/>
        </ns0:nvSpPr>
        <ns0:spPr>
          <ns1:xfrm>
            <ns1:off x="274320" y="1051560"/>
            <ns1:ext cx="548640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Зачем</ns1:t>
            </ns1:r>
          </ns1:p>
        </ns0:txBody>
      </ns0:sp>
      <ns0:sp>
        <ns0:nvSpPr>
          <ns0:cNvPr id="31" name="txt31"/>
          <ns0:cNvSpPr txBox="1"/>
          <ns0:nvPr/>
        </ns0:nvSpPr>
        <ns0:spPr>
          <ns1:xfrm>
            <ns1:off x="274320" y="1481328"/>
            <ns1:ext cx="5486400" cy="13716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PilotNet управляет рулём, но «не видит» препятствий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YOLOv8n добавляет распознавание объектов на дороге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Совместный пайплайн = управление + восприятие сцены</ns1:t>
            </ns1:r>
          </ns1:p>
        </ns0:txBody>
      </ns0:sp>
      <ns0:sp>
        <ns0:nvSpPr>
          <ns0:cNvPr id="32" name="txt32"/>
          <ns0:cNvSpPr txBox="1"/>
          <ns0:nvPr/>
        </ns0:nvSpPr>
        <ns0:spPr>
          <ns1:xfrm>
            <ns1:off x="274320" y="3017520"/>
            <ns1:ext cx="548640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Совместный пайплайн</ns1:t>
            </ns1:r>
          </ns1:p>
        </ns0:txBody>
      </ns0:sp>
      <ns0:sp>
        <ns0:nvSpPr>
          <ns0:cNvPr id="33" name="rect33"/>
          <ns0:cNvSpPr txBox="1"/>
          <ns0:nvPr/>
        </ns0:nvSpPr>
        <ns0:spPr>
          <ns1:xfrm>
            <ns1:off x="274320" y="3474720"/>
            <ns1:ext cx="5486400" cy="2651760"/>
          </ns1:xfrm>
          <ns1:prstGeom prst="rect">
            <ns1:avLst/>
          </ns1:prstGeom>
          <ns1:solidFill>
            <ns1:srgbClr val="060F1A"/>
          </ns1:solidFill>
          <ns1:ln w="1270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34" name="txt34"/>
          <ns0:cNvSpPr txBox="1"/>
          <ns0:nvPr/>
        </ns0:nvSpPr>
        <ns0:spPr>
          <ns1:xfrm>
            <ns1:off x="457200" y="3611880"/>
            <ns1:ext cx="5120640" cy="22860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[ Кадр 66×200 YUV ]</ns1:t>
            </ns1:r>
          </ns1:p>
          <ns1:p>
            <ns1:pPr algn="ctr"/>
            <ns1:endParaRPr lang="ru-RU"/>
          </ns1:p>
          <ns1:p>
            <ns1:pPr algn="ctr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[ PilotNet ]        [ YOLOv8n ]</ns1:t>
            </ns1:r>
          </ns1:p>
          <ns1:p>
            <ns1:pPr algn="ctr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    угол θ           bbox + label</ns1:t>
            </ns1:r>
          </ns1:p>
          <ns1:p>
            <ns1:pPr algn="ctr"/>
            <ns1:endParaRPr lang="ru-RU"/>
          </ns1:p>
          <ns1:p>
            <ns1:pPr algn="ctr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[ Визуализация / управление ]</ns1:t>
            </ns1:r>
          </ns1:p>
        </ns0:txBody>
      </ns0:sp>
      <ns0:sp>
        <ns0:nvSpPr>
          <ns0:cNvPr id="40" name="txt40"/>
          <ns0:cNvSpPr txBox="1"/>
          <ns0:nvPr/>
        </ns0:nvSpPr>
        <ns0:spPr>
          <ns1:xfrm>
            <ns1:off x="6217920" y="1051560"/>
            <ns1:ext cx="548640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Модель YOLOv8n</ns1:t>
            </ns1:r>
          </ns1:p>
        </ns0:txBody>
      </ns0:sp>
      <ns0:sp>
        <ns0:nvSpPr>
          <ns0:cNvPr id="41" name="txt41"/>
          <ns0:cNvSpPr txBox="1"/>
          <ns0:nvPr/>
        </ns0:nvSpPr>
        <ns0:spPr>
          <ns1:xfrm>
            <ns1:off x="6217920" y="1481328"/>
            <ns1:ext cx="5486400" cy="20116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Претренирована на COCO (80 классов)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Inference &lt; 30 мс / кадр на CPU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Классы: car, truck, person, traffic light…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Zero-shot на сценах симулятора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Без дообучения</ns1:t>
            </ns1:r>
          </ns1:p>
        </ns0:txBody>
      </ns0:sp>
      <ns0:sp>
        <ns0:nvSpPr>
          <ns0:cNvPr id="42" name="txt42"/>
          <ns0:cNvSpPr txBox="1"/>
          <ns0:nvPr/>
        </ns0:nvSpPr>
        <ns0:spPr>
          <ns1:xfrm>
            <ns1:off x="6217920" y="3657600"/>
            <ns1:ext cx="548640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Итоговый результат</ns1:t>
            </ns1:r>
          </ns1:p>
        </ns0:txBody>
      </ns0:sp>
      <ns0:sp>
        <ns0:nvSpPr>
          <ns0:cNvPr id="43" name="rect43"/>
          <ns0:cNvSpPr txBox="1"/>
          <ns0:nvPr/>
        </ns0:nvSpPr>
        <ns0:spPr>
          <ns1:xfrm>
            <ns1:off x="6217920" y="4114800"/>
            <ns1:ext cx="5486400" cy="1828800"/>
          </ns1:xfrm>
          <ns1:prstGeom prst="rect">
            <ns1:avLst/>
          </ns1:prstGeom>
          <ns1:solidFill>
            <ns1:srgbClr val="060F1A"/>
          </ns1:solidFill>
          <ns1:ln w="1270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44" name="txt44"/>
          <ns0:cNvSpPr txBox="1"/>
          <ns0:nvPr/>
        </ns0:nvSpPr>
        <ns0:spPr>
          <ns1:xfrm>
            <ns1:off x="6400800" y="4251960"/>
            <ns1:ext cx="5120640" cy="1554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На каждом кадре:</ns1:t>
            </ns1:r>
          </ns1:p>
          <ns1:p>
            <ns1:pPr algn="l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  → предсказан угол руля</ns1:t>
            </ns1:r>
          </ns1:p>
          <ns1:p>
            <ns1:pPr algn="l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  → отмечены объекты с классами</ns1:t>
            </ns1:r>
          </ns1:p>
          <ns1:p>
            <ns1:pPr algn="l"/>
            <ns1:r>
              <ns1:rPr lang="ru-RU" sz="1400" b="0" i="0" dirty="0">
                <ns1:solidFill>
                  <ns1:srgbClr val="B0C4DE"/>
                </ns1:solidFill>
                <ns1:latin typeface="Calibri"/>
              </ns1:rPr>
              <ns1:t>  → единый вывод в реальном времени</ns1:t>
            </ns1:r>
          </ns1:p>
        </ns0:txBody>
      </ns0:sp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 xmlns:a="http://schemas.openxmlformats.org/drawingml/2006/main" xmlns:p="http://schemas.openxmlformats.org/presentationml/2006/main" xmlns:r="http://schemas.openxmlformats.org/officeDocument/2006/relationships">
  <ns0:cSld>
    <ns0:bg>
      <ns0:bgPr>
        <ns1:solidFill>
          <ns1:srgbClr val="0D1B2A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x="12192000" cx="12192000" cy="6858000"/>
          <ns1:chOff x="0" y="0"/>
          <ns1:chExt x="12192000" cx="12192000" cy="6858000"/>
        </ns1:xfrm>
      </ns0:grpSpPr>
      <ns0:sp>
        <ns0:nvSpPr>
          <ns0:cNvPr id="10" name="rect10"/>
          <ns0:cNvSpPr txBox="1"/>
          <ns0:nvPr/>
        </ns0:nvSpPr>
        <ns0:spPr>
          <ns1:xfrm>
            <ns1:off x="0" y="0"/>
            <ns1:ext cx="109728" cy="68580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" name="txt20"/>
          <ns0:cNvSpPr txBox="1"/>
          <ns0:nvPr/>
        </ns0:nvSpPr>
        <ns0:spPr>
          <ns1:xfrm>
            <ns1:off x="274320" y="182880"/>
            <ns1:ext cx="10972800" cy="6400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2800" b="1" i="0" dirty="0">
                <ns1:solidFill>
                  <ns1:srgbClr val="00B4D8"/>
                </ns1:solidFill>
                <ns1:latin typeface="Calibri"/>
              </ns1:rPr>
              <ns1:t>Что выполнено</ns1:t>
            </ns1:r>
          </ns1:p>
        </ns0:txBody>
      </ns0:sp>
      <ns0:sp>
        <ns0:nvSpPr>
          <ns0:cNvPr id="21" name="rect21"/>
          <ns0:cNvSpPr txBox="1"/>
          <ns0:nvPr/>
        </ns0:nvSpPr>
        <ns0:spPr>
          <ns1:xfrm>
            <ns1:off x="274320" y="868680"/>
            <ns1:ext cx="4572000" cy="36576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100" name="rect100"/>
          <ns0:cNvSpPr txBox="1"/>
          <ns0:nvPr/>
        </ns0:nvSpPr>
        <ns0:spPr>
          <ns1:xfrm>
            <ns1:off x="274320" y="1143000"/>
            <ns1:ext cx="292608" cy="292608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0" name="txt200"/>
          <ns0:cNvSpPr txBox="1"/>
          <ns0:nvPr/>
        </ns0:nvSpPr>
        <ns0:spPr>
          <ns1:xfrm>
            <ns1:off x="274320" y="1106424"/>
            <ns1:ext cx="320040" cy="347472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300" b="1" i="0" dirty="0">
                <ns1:solidFill>
                  <ns1:srgbClr val="0D1B2A"/>
                </ns1:solidFill>
                <ns1:latin typeface="Calibri"/>
              </ns1:rPr>
              <ns1:t>✓</ns1:t>
            </ns1:r>
          </ns1:p>
        </ns0:txBody>
      </ns0:sp>
      <ns0:sp>
        <ns0:nvSpPr>
          <ns0:cNvPr id="300" name="txt300"/>
          <ns0:cNvSpPr txBox="1"/>
          <ns0:nvPr/>
        </ns0:nvSpPr>
        <ns0:spPr>
          <ns1:xfrm>
            <ns1:off x="731520" y="1051560"/>
            <ns1:ext cx="11155680" cy="502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0" i="0" dirty="0">
                <ns1:solidFill>
                  <ns1:srgbClr val="FFFFFF"/>
                </ns1:solidFill>
                <ns1:latin typeface="Calibri"/>
              </ns1:rPr>
              <ns1:t>Архитектура PilotNet реализована на PyTorch</ns1:t>
            </ns1:r>
          </ns1:p>
        </ns0:txBody>
      </ns0:sp>
      <ns0:sp>
        <ns0:nvSpPr>
          <ns0:cNvPr id="101" name="rect101"/>
          <ns0:cNvSpPr txBox="1"/>
          <ns0:nvPr/>
        </ns0:nvSpPr>
        <ns0:spPr>
          <ns1:xfrm>
            <ns1:off x="274320" y="1764792"/>
            <ns1:ext cx="292608" cy="292608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1" name="txt201"/>
          <ns0:cNvSpPr txBox="1"/>
          <ns0:nvPr/>
        </ns0:nvSpPr>
        <ns0:spPr>
          <ns1:xfrm>
            <ns1:off x="274320" y="1728216"/>
            <ns1:ext cx="320040" cy="347472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300" b="1" i="0" dirty="0">
                <ns1:solidFill>
                  <ns1:srgbClr val="0D1B2A"/>
                </ns1:solidFill>
                <ns1:latin typeface="Calibri"/>
              </ns1:rPr>
              <ns1:t>✓</ns1:t>
            </ns1:r>
          </ns1:p>
        </ns0:txBody>
      </ns0:sp>
      <ns0:sp>
        <ns0:nvSpPr>
          <ns0:cNvPr id="301" name="txt301"/>
          <ns0:cNvSpPr txBox="1"/>
          <ns0:nvPr/>
        </ns0:nvSpPr>
        <ns0:spPr>
          <ns1:xfrm>
            <ns1:off x="731520" y="1673352"/>
            <ns1:ext cx="11155680" cy="502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0" i="0" dirty="0">
                <ns1:solidFill>
                  <ns1:srgbClr val="FFFFFF"/>
                </ns1:solidFill>
                <ns1:latin typeface="Calibri"/>
              </ns1:rPr>
              <ns1:t>DataLoader: 3 камеры, аугментация, балансировка</ns1:t>
            </ns1:r>
          </ns1:p>
        </ns0:txBody>
      </ns0:sp>
      <ns0:sp>
        <ns0:nvSpPr>
          <ns0:cNvPr id="102" name="rect102"/>
          <ns0:cNvSpPr txBox="1"/>
          <ns0:nvPr/>
        </ns0:nvSpPr>
        <ns0:spPr>
          <ns1:xfrm>
            <ns1:off x="274320" y="2386584"/>
            <ns1:ext cx="292608" cy="292608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2" name="txt202"/>
          <ns0:cNvSpPr txBox="1"/>
          <ns0:nvPr/>
        </ns0:nvSpPr>
        <ns0:spPr>
          <ns1:xfrm>
            <ns1:off x="274320" y="2350008"/>
            <ns1:ext cx="320040" cy="347472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300" b="1" i="0" dirty="0">
                <ns1:solidFill>
                  <ns1:srgbClr val="0D1B2A"/>
                </ns1:solidFill>
                <ns1:latin typeface="Calibri"/>
              </ns1:rPr>
              <ns1:t>✓</ns1:t>
            </ns1:r>
          </ns1:p>
        </ns0:txBody>
      </ns0:sp>
      <ns0:sp>
        <ns0:nvSpPr>
          <ns0:cNvPr id="302" name="txt302"/>
          <ns0:cNvSpPr txBox="1"/>
          <ns0:nvPr/>
        </ns0:nvSpPr>
        <ns0:spPr>
          <ns1:xfrm>
            <ns1:off x="731520" y="2295144"/>
            <ns1:ext cx="11155680" cy="502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0" i="0" dirty="0">
                <ns1:solidFill>
                  <ns1:srgbClr val="FFFFFF"/>
                </ns1:solidFill>
                <ns1:latin typeface="Calibri"/>
              </ns1:rPr>
              <ns1:t>Цикл обучения: Adam, MSE loss, EarlyStopping</ns1:t>
            </ns1:r>
          </ns1:p>
        </ns0:txBody>
      </ns0:sp>
      <ns0:sp>
        <ns0:nvSpPr>
          <ns0:cNvPr id="103" name="rect103"/>
          <ns0:cNvSpPr txBox="1"/>
          <ns0:nvPr/>
        </ns0:nvSpPr>
        <ns0:spPr>
          <ns1:xfrm>
            <ns1:off x="274320" y="3008376"/>
            <ns1:ext cx="292608" cy="292608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3" name="txt203"/>
          <ns0:cNvSpPr txBox="1"/>
          <ns0:nvPr/>
        </ns0:nvSpPr>
        <ns0:spPr>
          <ns1:xfrm>
            <ns1:off x="274320" y="2971800"/>
            <ns1:ext cx="320040" cy="347472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300" b="1" i="0" dirty="0">
                <ns1:solidFill>
                  <ns1:srgbClr val="0D1B2A"/>
                </ns1:solidFill>
                <ns1:latin typeface="Calibri"/>
              </ns1:rPr>
              <ns1:t>✓</ns1:t>
            </ns1:r>
          </ns1:p>
        </ns0:txBody>
      </ns0:sp>
      <ns0:sp>
        <ns0:nvSpPr>
          <ns0:cNvPr id="303" name="txt303"/>
          <ns0:cNvSpPr txBox="1"/>
          <ns0:nvPr/>
        </ns0:nvSpPr>
        <ns0:spPr>
          <ns1:xfrm>
            <ns1:off x="731520" y="2916936"/>
            <ns1:ext cx="11155680" cy="502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0" i="0" dirty="0">
                <ns1:solidFill>
                  <ns1:srgbClr val="FFFFFF"/>
                </ns1:solidFill>
                <ns1:latin typeface="Calibri"/>
              </ns1:rPr>
              <ns1:t>Оценка: MSE / MAE / R², визуализация ошибок</ns1:t>
            </ns1:r>
          </ns1:p>
        </ns0:txBody>
      </ns0:sp>
      <ns0:sp>
        <ns0:nvSpPr>
          <ns0:cNvPr id="104" name="rect104"/>
          <ns0:cNvSpPr txBox="1"/>
          <ns0:nvPr/>
        </ns0:nvSpPr>
        <ns0:spPr>
          <ns1:xfrm>
            <ns1:off x="274320" y="3630168"/>
            <ns1:ext cx="292608" cy="292608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4" name="txt204"/>
          <ns0:cNvSpPr txBox="1"/>
          <ns0:nvPr/>
        </ns0:nvSpPr>
        <ns0:spPr>
          <ns1:xfrm>
            <ns1:off x="274320" y="3593592"/>
            <ns1:ext cx="320040" cy="347472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300" b="1" i="0" dirty="0">
                <ns1:solidFill>
                  <ns1:srgbClr val="0D1B2A"/>
                </ns1:solidFill>
                <ns1:latin typeface="Calibri"/>
              </ns1:rPr>
              <ns1:t>✓</ns1:t>
            </ns1:r>
          </ns1:p>
        </ns0:txBody>
      </ns0:sp>
      <ns0:sp>
        <ns0:nvSpPr>
          <ns0:cNvPr id="304" name="txt304"/>
          <ns0:cNvSpPr txBox="1"/>
          <ns0:nvPr/>
        </ns0:nvSpPr>
        <ns0:spPr>
          <ns1:xfrm>
            <ns1:off x="731520" y="3538728"/>
            <ns1:ext cx="11155680" cy="502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0" i="0" dirty="0">
                <ns1:solidFill>
                  <ns1:srgbClr val="FFFFFF"/>
                </ns1:solidFill>
                <ns1:latin typeface="Calibri"/>
              </ns1:rPr>
              <ns1:t>YOLOv8 детекция + объединённый пайплайн</ns1:t>
            </ns1:r>
          </ns1:p>
        </ns0:txBody>
      </ns0:sp>
      <ns0:sp>
        <ns0:nvSpPr>
          <ns0:cNvPr id="105" name="rect105"/>
          <ns0:cNvSpPr txBox="1"/>
          <ns0:nvPr/>
        </ns0:nvSpPr>
        <ns0:spPr>
          <ns1:xfrm>
            <ns1:off x="274320" y="4251960"/>
            <ns1:ext cx="292608" cy="292608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5" name="txt205"/>
          <ns0:cNvSpPr txBox="1"/>
          <ns0:nvPr/>
        </ns0:nvSpPr>
        <ns0:spPr>
          <ns1:xfrm>
            <ns1:off x="274320" y="4215384"/>
            <ns1:ext cx="320040" cy="347472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300" b="1" i="0" dirty="0">
                <ns1:solidFill>
                  <ns1:srgbClr val="0D1B2A"/>
                </ns1:solidFill>
                <ns1:latin typeface="Calibri"/>
              </ns1:rPr>
              <ns1:t>✓</ns1:t>
            </ns1:r>
          </ns1:p>
        </ns0:txBody>
      </ns0:sp>
      <ns0:sp>
        <ns0:nvSpPr>
          <ns0:cNvPr id="305" name="txt305"/>
          <ns0:cNvSpPr txBox="1"/>
          <ns0:nvPr/>
        </ns0:nvSpPr>
        <ns0:spPr>
          <ns1:xfrm>
            <ns1:off x="731520" y="4160520"/>
            <ns1:ext cx="11155680" cy="502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0" i="0" dirty="0">
                <ns1:solidFill>
                  <ns1:srgbClr val="FFFFFF"/>
                </ns1:solidFill>
                <ns1:latin typeface="Calibri"/>
              </ns1:rPr>
              <ns1:t>5 Jupyter-ноутбуков для Google Colab (GPU T4)</ns1:t>
            </ns1:r>
          </ns1:p>
        </ns0:txBody>
      </ns0:sp>
      <ns0:sp>
        <ns0:nvSpPr>
          <ns0:cNvPr id="106" name="rect106"/>
          <ns0:cNvSpPr txBox="1"/>
          <ns0:nvPr/>
        </ns0:nvSpPr>
        <ns0:spPr>
          <ns1:xfrm>
            <ns1:off x="274320" y="4873752"/>
            <ns1:ext cx="292608" cy="292608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6" name="txt206"/>
          <ns0:cNvSpPr txBox="1"/>
          <ns0:nvPr/>
        </ns0:nvSpPr>
        <ns0:spPr>
          <ns1:xfrm>
            <ns1:off x="274320" y="4837176"/>
            <ns1:ext cx="320040" cy="347472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300" b="1" i="0" dirty="0">
                <ns1:solidFill>
                  <ns1:srgbClr val="0D1B2A"/>
                </ns1:solidFill>
                <ns1:latin typeface="Calibri"/>
              </ns1:rPr>
              <ns1:t>✓</ns1:t>
            </ns1:r>
          </ns1:p>
        </ns0:txBody>
      </ns0:sp>
      <ns0:sp>
        <ns0:nvSpPr>
          <ns0:cNvPr id="306" name="txt306"/>
          <ns0:cNvSpPr txBox="1"/>
          <ns0:nvPr/>
        </ns0:nvSpPr>
        <ns0:spPr>
          <ns1:xfrm>
            <ns1:off x="731520" y="4782312"/>
            <ns1:ext cx="11155680" cy="502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0" i="0" dirty="0">
                <ns1:solidFill>
                  <ns1:srgbClr val="FFFFFF"/>
                </ns1:solidFill>
                <ns1:latin typeface="Calibri"/>
              </ns1:rPr>
              <ns1:t>Автоматическая установка (00_install.ipynb)</ns1:t>
            </ns1:r>
          </ns1:p>
        </ns0:txBody>
      </ns0:sp>
      <ns0:sp>
        <ns0:nvSpPr>
          <ns0:cNvPr id="107" name="rect107"/>
          <ns0:cNvSpPr txBox="1"/>
          <ns0:nvPr/>
        </ns0:nvSpPr>
        <ns0:spPr>
          <ns1:xfrm>
            <ns1:off x="274320" y="5495544"/>
            <ns1:ext cx="292608" cy="292608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7" name="txt207"/>
          <ns0:cNvSpPr txBox="1"/>
          <ns0:nvPr/>
        </ns0:nvSpPr>
        <ns0:spPr>
          <ns1:xfrm>
            <ns1:off x="274320" y="5458968"/>
            <ns1:ext cx="320040" cy="347472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300" b="1" i="0" dirty="0">
                <ns1:solidFill>
                  <ns1:srgbClr val="0D1B2A"/>
                </ns1:solidFill>
                <ns1:latin typeface="Calibri"/>
              </ns1:rPr>
              <ns1:t>✓</ns1:t>
            </ns1:r>
          </ns1:p>
        </ns0:txBody>
      </ns0:sp>
      <ns0:sp>
        <ns0:nvSpPr>
          <ns0:cNvPr id="307" name="txt307"/>
          <ns0:cNvSpPr txBox="1"/>
          <ns0:nvPr/>
        </ns0:nvSpPr>
        <ns0:spPr>
          <ns1:xfrm>
            <ns1:off x="731520" y="5404104"/>
            <ns1:ext cx="11155680" cy="502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0" i="0" dirty="0">
                <ns1:solidFill>
                  <ns1:srgbClr val="FFFFFF"/>
                </ns1:solidFill>
                <ns1:latin typeface="Calibri"/>
              </ns1:rPr>
              <ns1:t>Совместимость с PyTorch 2.6+, публикация на GitHub</ns1:t>
            </ns1:r>
          </ns1:p>
        </ns0:txBody>
      </ns0:sp>
    </ns0:spTree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 xmlns:a="http://schemas.openxmlformats.org/drawingml/2006/main" xmlns:p="http://schemas.openxmlformats.org/presentationml/2006/main" xmlns:r="http://schemas.openxmlformats.org/officeDocument/2006/relationships">
  <ns0:cSld>
    <ns0:bg>
      <ns0:bgPr>
        <ns1:solidFill>
          <ns1:srgbClr val="0D1B2A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x="12192000" cx="12192000" cy="6858000"/>
          <ns1:chOff x="0" y="0"/>
          <ns1:chExt x="12192000" cx="12192000" cy="6858000"/>
        </ns1:xfrm>
      </ns0:grpSpPr>
      <ns0:sp>
        <ns0:nvSpPr>
          <ns0:cNvPr id="10" name="rect10"/>
          <ns0:cNvSpPr txBox="1"/>
          <ns0:nvPr/>
        </ns0:nvSpPr>
        <ns0:spPr>
          <ns1:xfrm>
            <ns1:off x="0" y="0"/>
            <ns1:ext cx="109728" cy="68580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" name="txt20"/>
          <ns0:cNvSpPr txBox="1"/>
          <ns0:nvPr/>
        </ns0:nvSpPr>
        <ns0:spPr>
          <ns1:xfrm>
            <ns1:off x="274320" y="182880"/>
            <ns1:ext cx="10972800" cy="6400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2800" b="1" i="0" dirty="0">
                <ns1:solidFill>
                  <ns1:srgbClr val="00B4D8"/>
                </ns1:solidFill>
                <ns1:latin typeface="Calibri"/>
              </ns1:rPr>
              <ns1:t>Ожидаемые результаты</ns1:t>
            </ns1:r>
          </ns1:p>
        </ns0:txBody>
      </ns0:sp>
      <ns0:sp>
        <ns0:nvSpPr>
          <ns0:cNvPr id="21" name="rect21"/>
          <ns0:cNvSpPr txBox="1"/>
          <ns0:nvPr/>
        </ns0:nvSpPr>
        <ns0:spPr>
          <ns1:xfrm>
            <ns1:off x="274320" y="868680"/>
            <ns1:ext cx="4572000" cy="36576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100" name="rect100"/>
          <ns0:cNvSpPr txBox="1"/>
          <ns0:nvPr/>
        </ns0:nvSpPr>
        <ns0:spPr>
          <ns1:xfrm>
            <ns1:off x="274320" y="1097280"/>
            <ns1:ext cx="3566160" cy="1828800"/>
          </ns1:xfrm>
          <ns1:prstGeom prst="rect">
            <ns1:avLst/>
          </ns1:prstGeom>
          <ns1:solidFill>
            <ns1:srgbClr val="060F1A"/>
          </ns1:solidFill>
          <ns1:ln w="190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0" name="txt200"/>
          <ns0:cNvSpPr txBox="1"/>
          <ns0:nvPr/>
        </ns0:nvSpPr>
        <ns0:spPr>
          <ns1:xfrm>
            <ns1:off x="365760" y="1188720"/>
            <ns1:ext cx="338328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800" b="1" i="0" dirty="0">
                <ns1:solidFill>
                  <ns1:srgbClr val="00B4D8"/>
                </ns1:solidFill>
                <ns1:latin typeface="Calibri"/>
              </ns1:rPr>
              <ns1:t>MSE</ns1:t>
            </ns1:r>
          </ns1:p>
        </ns0:txBody>
      </ns0:sp>
      <ns0:sp>
        <ns0:nvSpPr>
          <ns0:cNvPr id="300" name="txt300"/>
          <ns0:cNvSpPr txBox="1"/>
          <ns0:nvPr/>
        </ns0:nvSpPr>
        <ns0:spPr>
          <ns1:xfrm>
            <ns1:off x="365760" y="1600200"/>
            <ns1:ext cx="3383280" cy="5943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3000" b="1" i="0" dirty="0">
                <ns1:solidFill>
                  <ns1:srgbClr val="FFD166"/>
                </ns1:solidFill>
                <ns1:latin typeface="Calibri"/>
              </ns1:rPr>
              <ns1:t>&lt; 0.01</ns1:t>
            </ns1:r>
          </ns1:p>
        </ns0:txBody>
      </ns0:sp>
      <ns0:sp>
        <ns0:nvSpPr>
          <ns0:cNvPr id="400" name="txt400"/>
          <ns0:cNvSpPr txBox="1"/>
          <ns0:nvPr/>
        </ns0:nvSpPr>
        <ns0:spPr>
          <ns1:xfrm>
            <ns1:off x="365760" y="2240280"/>
            <ns1:ext cx="3383280" cy="502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Средняя квадр.</ns1:t>
            </ns1:r>
          </ns1:p>
          <ns1:p>
            <ns1:pPr algn="ctr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ошибка угла</ns1:t>
            </ns1:r>
          </ns1:p>
        </ns0:txBody>
      </ns0:sp>
      <ns0:sp>
        <ns0:nvSpPr>
          <ns0:cNvPr id="101" name="rect101"/>
          <ns0:cNvSpPr txBox="1"/>
          <ns0:nvPr/>
        </ns0:nvSpPr>
        <ns0:spPr>
          <ns1:xfrm>
            <ns1:off x="4114800" y="1097280"/>
            <ns1:ext cx="3566160" cy="1828800"/>
          </ns1:xfrm>
          <ns1:prstGeom prst="rect">
            <ns1:avLst/>
          </ns1:prstGeom>
          <ns1:solidFill>
            <ns1:srgbClr val="060F1A"/>
          </ns1:solidFill>
          <ns1:ln w="190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1" name="txt201"/>
          <ns0:cNvSpPr txBox="1"/>
          <ns0:nvPr/>
        </ns0:nvSpPr>
        <ns0:spPr>
          <ns1:xfrm>
            <ns1:off x="4206240" y="1188720"/>
            <ns1:ext cx="338328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800" b="1" i="0" dirty="0">
                <ns1:solidFill>
                  <ns1:srgbClr val="00B4D8"/>
                </ns1:solidFill>
                <ns1:latin typeface="Calibri"/>
              </ns1:rPr>
              <ns1:t>MAE</ns1:t>
            </ns1:r>
          </ns1:p>
        </ns0:txBody>
      </ns0:sp>
      <ns0:sp>
        <ns0:nvSpPr>
          <ns0:cNvPr id="301" name="txt301"/>
          <ns0:cNvSpPr txBox="1"/>
          <ns0:nvPr/>
        </ns0:nvSpPr>
        <ns0:spPr>
          <ns1:xfrm>
            <ns1:off x="4206240" y="1600200"/>
            <ns1:ext cx="3383280" cy="5943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3000" b="1" i="0" dirty="0">
                <ns1:solidFill>
                  <ns1:srgbClr val="FFD166"/>
                </ns1:solidFill>
                <ns1:latin typeface="Calibri"/>
              </ns1:rPr>
              <ns1:t>&lt; 0.07</ns1:t>
            </ns1:r>
          </ns1:p>
        </ns0:txBody>
      </ns0:sp>
      <ns0:sp>
        <ns0:nvSpPr>
          <ns0:cNvPr id="401" name="txt401"/>
          <ns0:cNvSpPr txBox="1"/>
          <ns0:nvPr/>
        </ns0:nvSpPr>
        <ns0:spPr>
          <ns1:xfrm>
            <ns1:off x="4206240" y="2240280"/>
            <ns1:ext cx="3383280" cy="502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Средняя абс.</ns1:t>
            </ns1:r>
          </ns1:p>
          <ns1:p>
            <ns1:pPr algn="ctr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ошибка</ns1:t>
            </ns1:r>
          </ns1:p>
        </ns0:txBody>
      </ns0:sp>
      <ns0:sp>
        <ns0:nvSpPr>
          <ns0:cNvPr id="102" name="rect102"/>
          <ns0:cNvSpPr txBox="1"/>
          <ns0:nvPr/>
        </ns0:nvSpPr>
        <ns0:spPr>
          <ns1:xfrm>
            <ns1:off x="7955280" y="1097280"/>
            <ns1:ext cx="3566160" cy="1828800"/>
          </ns1:xfrm>
          <ns1:prstGeom prst="rect">
            <ns1:avLst/>
          </ns1:prstGeom>
          <ns1:solidFill>
            <ns1:srgbClr val="060F1A"/>
          </ns1:solidFill>
          <ns1:ln w="190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202" name="txt202"/>
          <ns0:cNvSpPr txBox="1"/>
          <ns0:nvPr/>
        </ns0:nvSpPr>
        <ns0:spPr>
          <ns1:xfrm>
            <ns1:off x="8046720" y="1188720"/>
            <ns1:ext cx="3383280" cy="4114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800" b="1" i="0" dirty="0">
                <ns1:solidFill>
                  <ns1:srgbClr val="00B4D8"/>
                </ns1:solidFill>
                <ns1:latin typeface="Calibri"/>
              </ns1:rPr>
              <ns1:t>R²</ns1:t>
            </ns1:r>
          </ns1:p>
        </ns0:txBody>
      </ns0:sp>
      <ns0:sp>
        <ns0:nvSpPr>
          <ns0:cNvPr id="302" name="txt302"/>
          <ns0:cNvSpPr txBox="1"/>
          <ns0:nvPr/>
        </ns0:nvSpPr>
        <ns0:spPr>
          <ns1:xfrm>
            <ns1:off x="8046720" y="1600200"/>
            <ns1:ext cx="3383280" cy="5943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3000" b="1" i="0" dirty="0">
                <ns1:solidFill>
                  <ns1:srgbClr val="FFD166"/>
                </ns1:solidFill>
                <ns1:latin typeface="Calibri"/>
              </ns1:rPr>
              <ns1:t>&gt; 0.85</ns1:t>
            </ns1:r>
          </ns1:p>
        </ns0:txBody>
      </ns0:sp>
      <ns0:sp>
        <ns0:nvSpPr>
          <ns0:cNvPr id="402" name="txt402"/>
          <ns0:cNvSpPr txBox="1"/>
          <ns0:nvPr/>
        </ns0:nvSpPr>
        <ns0:spPr>
          <ns1:xfrm>
            <ns1:off x="8046720" y="2240280"/>
            <ns1:ext cx="3383280" cy="50292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Коэффициент</ns1:t>
            </ns1:r>
          </ns1:p>
          <ns1:p>
            <ns1:pPr algn="ctr"/>
            <ns1:r>
              <ns1:rPr lang="ru-RU" sz="1200" b="0" i="0" dirty="0">
                <ns1:solidFill>
                  <ns1:srgbClr val="B0C4DE"/>
                </ns1:solidFill>
                <ns1:latin typeface="Calibri"/>
              </ns1:rPr>
              <ns1:t>детерминации</ns1:t>
            </ns1:r>
          </ns1:p>
        </ns0:txBody>
      </ns0:sp>
      <ns0:sp>
        <ns0:nvSpPr>
          <ns0:cNvPr id="50" name="txt50"/>
          <ns0:cNvSpPr txBox="1"/>
          <ns0:nvPr/>
        </ns0:nvSpPr>
        <ns0:spPr>
          <ns1:xfrm>
            <ns1:off x="274320" y="3108960"/>
            <ns1:ext cx="548640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Визуализации</ns1:t>
            </ns1:r>
          </ns1:p>
        </ns0:txBody>
      </ns0:sp>
      <ns0:sp>
        <ns0:nvSpPr>
          <ns0:cNvPr id="51" name="txt51"/>
          <ns0:cNvSpPr txBox="1"/>
          <ns0:nvPr/>
        </ns0:nvSpPr>
        <ns0:spPr>
          <ns1:xfrm>
            <ns1:off x="274320" y="3566160"/>
            <ns1:ext cx="5486400" cy="13716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Кривые train / val loss по эпохам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Scatter: предсказания vs. истинные углы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Гистограмма остатков (распределение ошибок)</ns1:t>
            </ns1:r>
          </ns1:p>
        </ns0:txBody>
      </ns0:sp>
      <ns0:sp>
        <ns0:nvSpPr>
          <ns0:cNvPr id="52" name="txt52"/>
          <ns0:cNvSpPr txBox="1"/>
          <ns0:nvPr/>
        </ns0:nvSpPr>
        <ns0:spPr>
          <ns1:xfrm>
            <ns1:off x="6217920" y="3108960"/>
            <ns1:ext cx="548640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Среда и время обучения</ns1:t>
            </ns1:r>
          </ns1:p>
        </ns0:txBody>
      </ns0:sp>
      <ns0:sp>
        <ns0:nvSpPr>
          <ns0:cNvPr id="53" name="txt53"/>
          <ns0:cNvSpPr txBox="1"/>
          <ns0:nvPr/>
        </ns0:nvSpPr>
        <ns0:spPr>
          <ns1:xfrm>
            <ns1:off x="6217920" y="3566160"/>
            <ns1:ext cx="5486400" cy="13716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Google Colab, GPU NVIDIA T4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Python 3.10, PyTorch 2.6, Ultralytics YOLOv8</ns1:t>
            </ns1:r>
          </ns1:p>
          <ns1:p>
            <ns1:pPr algn="l"/>
            <ns1:r>
              <ns1:rPr lang="ru-RU" sz="1500" b="0" i="0" dirty="0">
                <ns1:solidFill>
                  <ns1:srgbClr val="FFFFFF"/>
                </ns1:solidFill>
                <ns1:latin typeface="Calibri"/>
              </ns1:rPr>
              <ns1:t>•  Время обучения: ~20–40 мин</ns1:t>
            </ns1:r>
          </ns1:p>
        </ns0:txBody>
      </ns0:sp>
    </ns0:spTree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 xmlns:a="http://schemas.openxmlformats.org/drawingml/2006/main" xmlns:p="http://schemas.openxmlformats.org/presentationml/2006/main" xmlns:r="http://schemas.openxmlformats.org/officeDocument/2006/relationships">
  <ns0:cSld>
    <ns0:bg>
      <ns0:bgPr>
        <ns1:solidFill>
          <ns1:srgbClr val="0D1B2A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x="12192000" cx="12192000" cy="6858000"/>
          <ns1:chOff x="0" y="0"/>
          <ns1:chExt x="12192000" cx="12192000" cy="6858000"/>
        </ns1:xfrm>
      </ns0:grpSpPr>
      <ns0:sp>
        <ns0:nvSpPr>
          <ns0:cNvPr id="10" name="rect10"/>
          <ns0:cNvSpPr txBox="1"/>
          <ns0:nvPr/>
        </ns0:nvSpPr>
        <ns0:spPr>
          <ns1:xfrm>
            <ns1:off x="0" y="0"/>
            <ns1:ext cx="109728" cy="68580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" name="txt20"/>
          <ns0:cNvSpPr txBox="1"/>
          <ns0:nvPr/>
        </ns0:nvSpPr>
        <ns0:spPr>
          <ns1:xfrm>
            <ns1:off x="274320" y="182880"/>
            <ns1:ext cx="10972800" cy="6400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2800" b="1" i="0" dirty="0">
                <ns1:solidFill>
                  <ns1:srgbClr val="00B4D8"/>
                </ns1:solidFill>
                <ns1:latin typeface="Calibri"/>
              </ns1:rPr>
              <ns1:t>Дальнейшие шаги</ns1:t>
            </ns1:r>
          </ns1:p>
        </ns0:txBody>
      </ns0:sp>
      <ns0:sp>
        <ns0:nvSpPr>
          <ns0:cNvPr id="21" name="rect21"/>
          <ns0:cNvSpPr txBox="1"/>
          <ns0:nvPr/>
        </ns0:nvSpPr>
        <ns0:spPr>
          <ns1:xfrm>
            <ns1:off x="274320" y="868680"/>
            <ns1:ext cx="4572000" cy="36576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30" name="txt30"/>
          <ns0:cNvSpPr txBox="1"/>
          <ns0:nvPr/>
        </ns0:nvSpPr>
        <ns0:spPr>
          <ns1:xfrm>
            <ns1:off x="274320" y="1051560"/>
            <ns1:ext cx="1097280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Ближайшие</ns1:t>
            </ns1:r>
          </ns1:p>
        </ns0:txBody>
      </ns0:sp>
      <ns0:sp>
        <ns0:nvSpPr>
          <ns0:cNvPr id="100" name="rect100"/>
          <ns0:cNvSpPr txBox="1"/>
          <ns0:nvPr/>
        </ns0:nvSpPr>
        <ns0:spPr>
          <ns1:xfrm>
            <ns1:off x="274320" y="1618488"/>
            <ns1:ext cx="88900" cy="889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0" name="txt200"/>
          <ns0:cNvSpPr txBox="1"/>
          <ns0:nvPr/>
        </ns0:nvSpPr>
        <ns0:spPr>
          <ns1:xfrm>
            <ns1:off x="548640" y="1508760"/>
            <ns1:ext cx="5760720" cy="4572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600" b="1" i="0" dirty="0">
                <ns1:solidFill>
                  <ns1:srgbClr val="FFFFFF"/>
                </ns1:solidFill>
                <ns1:latin typeface="Calibri"/>
              </ns1:rPr>
              <ns1:t>Запустить обучение в Colab</ns1:t>
            </ns1:r>
          </ns1:p>
        </ns0:txBody>
      </ns0:sp>
      <ns0:sp>
        <ns0:nvSpPr>
          <ns0:cNvPr id="300" name="txt300"/>
          <ns0:cNvSpPr txBox="1"/>
          <ns0:nvPr/>
        </ns0:nvSpPr>
        <ns0:spPr>
          <ns1:xfrm>
            <ns1:off x="6400800" y="1508760"/>
            <ns1:ext cx="5486400" cy="4572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B0C4DE"/>
                </ns1:solidFill>
                <ns1:latin typeface="Calibri"/>
              </ns1:rPr>
              <ns1:t>→ получить итоговые метрики</ns1:t>
            </ns1:r>
          </ns1:p>
        </ns0:txBody>
      </ns0:sp>
      <ns0:sp>
        <ns0:nvSpPr>
          <ns0:cNvPr id="101" name="rect101"/>
          <ns0:cNvSpPr txBox="1"/>
          <ns0:nvPr/>
        </ns0:nvSpPr>
        <ns0:spPr>
          <ns1:xfrm>
            <ns1:off x="274320" y="2395728"/>
            <ns1:ext cx="88900" cy="889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1" name="txt201"/>
          <ns0:cNvSpPr txBox="1"/>
          <ns0:nvPr/>
        </ns0:nvSpPr>
        <ns0:spPr>
          <ns1:xfrm>
            <ns1:off x="548640" y="2286000"/>
            <ns1:ext cx="5760720" cy="4572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600" b="1" i="0" dirty="0">
                <ns1:solidFill>
                  <ns1:srgbClr val="FFFFFF"/>
                </ns1:solidFill>
                <ns1:latin typeface="Calibri"/>
              </ns1:rPr>
              <ns1:t>Загрузить датасет на Google Drive</ns1:t>
            </ns1:r>
          </ns1:p>
        </ns0:txBody>
      </ns0:sp>
      <ns0:sp>
        <ns0:nvSpPr>
          <ns0:cNvPr id="301" name="txt301"/>
          <ns0:cNvSpPr txBox="1"/>
          <ns0:nvPr/>
        </ns0:nvSpPr>
        <ns0:spPr>
          <ns1:xfrm>
            <ns1:off x="6400800" y="2286000"/>
            <ns1:ext cx="5486400" cy="4572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B0C4DE"/>
                </ns1:solidFill>
                <ns1:latin typeface="Calibri"/>
              </ns1:rPr>
              <ns1:t>→ проверить end-to-end пайплайн</ns1:t>
            </ns1:r>
          </ns1:p>
        </ns0:txBody>
      </ns0:sp>
      <ns0:sp>
        <ns0:nvSpPr>
          <ns0:cNvPr id="102" name="rect102"/>
          <ns0:cNvSpPr txBox="1"/>
          <ns0:nvPr/>
        </ns0:nvSpPr>
        <ns0:spPr>
          <ns1:xfrm>
            <ns1:off x="274320" y="3172968"/>
            <ns1:ext cx="88900" cy="889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2" name="txt202"/>
          <ns0:cNvSpPr txBox="1"/>
          <ns0:nvPr/>
        </ns0:nvSpPr>
        <ns0:spPr>
          <ns1:xfrm>
            <ns1:off x="548640" y="3063240"/>
            <ns1:ext cx="5760720" cy="4572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600" b="1" i="0" dirty="0">
                <ns1:solidFill>
                  <ns1:srgbClr val="FFFFFF"/>
                </ns1:solidFill>
                <ns1:latin typeface="Calibri"/>
              </ns1:rPr>
              <ns1:t>Сформировать графики и таблицы</ns1:t>
            </ns1:r>
          </ns1:p>
        </ns0:txBody>
      </ns0:sp>
      <ns0:sp>
        <ns0:nvSpPr>
          <ns0:cNvPr id="302" name="txt302"/>
          <ns0:cNvSpPr txBox="1"/>
          <ns0:nvPr/>
        </ns0:nvSpPr>
        <ns0:spPr>
          <ns1:xfrm>
            <ns1:off x="6400800" y="3063240"/>
            <ns1:ext cx="5486400" cy="4572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500" b="0" i="0" dirty="0">
                <ns1:solidFill>
                  <ns1:srgbClr val="B0C4DE"/>
                </ns1:solidFill>
                <ns1:latin typeface="Calibri"/>
              </ns1:rPr>
              <ns1:t>→ для главы «Результаты»</ns1:t>
            </ns1:r>
          </ns1:p>
        </ns0:txBody>
      </ns0:sp>
      <ns0:sp>
        <ns0:nvSpPr>
          <ns0:cNvPr id="40" name="rect40"/>
          <ns0:cNvSpPr txBox="1"/>
          <ns0:nvPr/>
        </ns0:nvSpPr>
        <ns0:spPr>
          <ns1:xfrm>
            <ns1:off x="274320" y="3931920"/>
            <ns1:ext cx="11430000" cy="36576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41" name="txt41"/>
          <ns0:cNvSpPr txBox="1"/>
          <ns0:nvPr/>
        </ns0:nvSpPr>
        <ns0:spPr>
          <ns1:xfrm>
            <ns1:off x="274320" y="4069080"/>
            <ns1:ext cx="10972800" cy="36576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700" b="1" i="0" dirty="0">
                <ns1:solidFill>
                  <ns1:srgbClr val="FFD166"/>
                </ns1:solidFill>
                <ns1:latin typeface="Calibri"/>
              </ns1:rPr>
              <ns1:t>Перспективы</ns1:t>
            </ns1:r>
          </ns1:p>
        </ns0:txBody>
      </ns0:sp>
      <ns0:sp>
        <ns0:nvSpPr>
          <ns0:cNvPr id="42" name="txt42"/>
          <ns0:cNvSpPr txBox="1"/>
          <ns0:nvPr/>
        </ns0:nvSpPr>
        <ns0:spPr>
          <ns1:xfrm>
            <ns1:off x="274320" y="4526280"/>
            <ns1:ext cx="11430000" cy="182880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600" b="0" i="0" dirty="0">
                <ns1:solidFill>
                  <ns1:srgbClr val="FFFFFF"/>
                </ns1:solidFill>
                <ns1:latin typeface="Calibri"/>
              </ns1:rPr>
              <ns1:t>•  LSTM / GRU — учёт истории кадров для сглаживания управления</ns1:t>
            </ns1:r>
          </ns1:p>
          <ns1:p>
            <ns1:pPr algn="l"/>
            <ns1:r>
              <ns1:rPr lang="ru-RU" sz="1600" b="0" i="0" dirty="0">
                <ns1:solidFill>
                  <ns1:srgbClr val="FFFFFF"/>
                </ns1:solidFill>
                <ns1:latin typeface="Calibri"/>
              </ns1:rPr>
              <ns1:t>•  Дообучение YOLOv8 на сценах симулятора</ns1:t>
            </ns1:r>
          </ns1:p>
          <ns1:p>
            <ns1:pPr algn="l"/>
            <ns1:r>
              <ns1:rPr lang="ru-RU" sz="1600" b="0" i="0" dirty="0">
                <ns1:solidFill>
                  <ns1:srgbClr val="FFFFFF"/>
                </ns1:solidFill>
                <ns1:latin typeface="Calibri"/>
              </ns1:rPr>
              <ns1:t>•  Демо-видео: реальный прогон в Udacity Simulator</ns1:t>
            </ns1:r>
          </ns1:p>
          <ns1:p>
            <ns1:pPr algn="l"/>
            <ns1:r>
              <ns1:rPr lang="ru-RU" sz="1600" b="0" i="0" dirty="0">
                <ns1:solidFill>
                  <ns1:srgbClr val="FFFFFF"/>
                </ns1:solidFill>
                <ns1:latin typeface="Calibri"/>
              </ns1:rPr>
              <ns1:t>•  Написание глав диплома (архитектура, результаты, выводы)</ns1:t>
            </ns1:r>
          </ns1:p>
        </ns0:txBody>
      </ns0:sp>
    </ns0:spTree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 xmlns:a="http://schemas.openxmlformats.org/drawingml/2006/main" xmlns:p="http://schemas.openxmlformats.org/presentationml/2006/main" xmlns:r="http://schemas.openxmlformats.org/officeDocument/2006/relationships">
  <ns0:cSld>
    <ns0:bg>
      <ns0:bgPr>
        <ns1:solidFill>
          <ns1:srgbClr val="0D1B2A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x="12192000" cx="12192000" cy="6858000"/>
          <ns1:chOff x="0" y="0"/>
          <ns1:chExt x="12192000" cx="12192000" cy="6858000"/>
        </ns1:xfrm>
      </ns0:grpSpPr>
      <ns0:sp>
        <ns0:nvSpPr>
          <ns0:cNvPr id="10" name="rect10"/>
          <ns0:cNvSpPr txBox="1"/>
          <ns0:nvPr/>
        </ns0:nvSpPr>
        <ns0:spPr>
          <ns1:xfrm>
            <ns1:off x="0" y="0"/>
            <ns1:ext cx="109728" cy="68580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" name="txt20"/>
          <ns0:cNvSpPr txBox="1"/>
          <ns0:nvPr/>
        </ns0:nvSpPr>
        <ns0:spPr>
          <ns1:xfrm>
            <ns1:off x="274320" y="365760"/>
            <ns1:ext cx="11521440" cy="64008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3200" b="1" i="0" dirty="0">
                <ns1:solidFill>
                  <ns1:srgbClr val="00B4D8"/>
                </ns1:solidFill>
                <ns1:latin typeface="Calibri"/>
              </ns1:rPr>
              <ns1:t>Итог</ns1:t>
            </ns1:r>
          </ns1:p>
        </ns0:txBody>
      </ns0:sp>
      <ns0:sp>
        <ns0:nvSpPr>
          <ns0:cNvPr id="100" name="rect100"/>
          <ns0:cNvSpPr txBox="1"/>
          <ns0:nvPr/>
        </ns0:nvSpPr>
        <ns0:spPr>
          <ns1:xfrm>
            <ns1:off x="1188720" y="1371600"/>
            <ns1:ext cx="114300" cy="1143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0" name="txt200"/>
          <ns0:cNvSpPr txBox="1"/>
          <ns0:nvPr/>
        </ns0:nvSpPr>
        <ns0:spPr>
          <ns1:xfrm>
            <ns1:off x="1554480" y="1188720"/>
            <ns1:ext cx="10058400" cy="5486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800" b="0" i="0" dirty="0">
                <ns1:solidFill>
                  <ns1:srgbClr val="FFFFFF"/>
                </ns1:solidFill>
                <ns1:latin typeface="Calibri"/>
              </ns1:rPr>
              <ns1:t>Реализована end-to-end система Behavioral Cloning на PyTorch</ns1:t>
            </ns1:r>
          </ns1:p>
        </ns0:txBody>
      </ns0:sp>
      <ns0:sp>
        <ns0:nvSpPr>
          <ns0:cNvPr id="101" name="rect101"/>
          <ns0:cNvSpPr txBox="1"/>
          <ns0:nvPr/>
        </ns0:nvSpPr>
        <ns0:spPr>
          <ns1:xfrm>
            <ns1:off x="1188720" y="2011680"/>
            <ns1:ext cx="114300" cy="1143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1" name="txt201"/>
          <ns0:cNvSpPr txBox="1"/>
          <ns0:nvPr/>
        </ns0:nvSpPr>
        <ns0:spPr>
          <ns1:xfrm>
            <ns1:off x="1554480" y="1828800"/>
            <ns1:ext cx="10058400" cy="5486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800" b="0" i="0" dirty="0">
                <ns1:solidFill>
                  <ns1:srgbClr val="FFFFFF"/>
                </ns1:solidFill>
                <ns1:latin typeface="Calibri"/>
              </ns1:rPr>
              <ns1:t>Архитектура: NVIDIA PilotNet CNN (BatchNorm + ELU + Dropout)</ns1:t>
            </ns1:r>
          </ns1:p>
        </ns0:txBody>
      </ns0:sp>
      <ns0:sp>
        <ns0:nvSpPr>
          <ns0:cNvPr id="102" name="rect102"/>
          <ns0:cNvSpPr txBox="1"/>
          <ns0:nvPr/>
        </ns0:nvSpPr>
        <ns0:spPr>
          <ns1:xfrm>
            <ns1:off x="1188720" y="2651760"/>
            <ns1:ext cx="114300" cy="1143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2" name="txt202"/>
          <ns0:cNvSpPr txBox="1"/>
          <ns0:nvPr/>
        </ns0:nvSpPr>
        <ns0:spPr>
          <ns1:xfrm>
            <ns1:off x="1554480" y="2468880"/>
            <ns1:ext cx="10058400" cy="5486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800" b="0" i="0" dirty="0">
                <ns1:solidFill>
                  <ns1:srgbClr val="FFFFFF"/>
                </ns1:solidFill>
                <ns1:latin typeface="Calibri"/>
              </ns1:rPr>
              <ns1:t>Данные: Udacity Simulator, 3 камеры, аугментация, балансировка</ns1:t>
            </ns1:r>
          </ns1:p>
        </ns0:txBody>
      </ns0:sp>
      <ns0:sp>
        <ns0:nvSpPr>
          <ns0:cNvPr id="103" name="rect103"/>
          <ns0:cNvSpPr txBox="1"/>
          <ns0:nvPr/>
        </ns0:nvSpPr>
        <ns0:spPr>
          <ns1:xfrm>
            <ns1:off x="1188720" y="3291840"/>
            <ns1:ext cx="114300" cy="1143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3" name="txt203"/>
          <ns0:cNvSpPr txBox="1"/>
          <ns0:nvPr/>
        </ns0:nvSpPr>
        <ns0:spPr>
          <ns1:xfrm>
            <ns1:off x="1554480" y="3108960"/>
            <ns1:ext cx="10058400" cy="5486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800" b="0" i="0" dirty="0">
                <ns1:solidFill>
                  <ns1:srgbClr val="FFFFFF"/>
                </ns1:solidFill>
                <ns1:latin typeface="Calibri"/>
              </ns1:rPr>
              <ns1:t>Мат. модель: MSE-регрессия, Adam, нормализация YUV-входа</ns1:t>
            </ns1:r>
          </ns1:p>
        </ns0:txBody>
      </ns0:sp>
      <ns0:sp>
        <ns0:nvSpPr>
          <ns0:cNvPr id="104" name="rect104"/>
          <ns0:cNvSpPr txBox="1"/>
          <ns0:nvPr/>
        </ns0:nvSpPr>
        <ns0:spPr>
          <ns1:xfrm>
            <ns1:off x="1188720" y="3931920"/>
            <ns1:ext cx="114300" cy="1143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4" name="txt204"/>
          <ns0:cNvSpPr txBox="1"/>
          <ns0:nvPr/>
        </ns0:nvSpPr>
        <ns0:spPr>
          <ns1:xfrm>
            <ns1:off x="1554480" y="3749040"/>
            <ns1:ext cx="10058400" cy="5486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800" b="0" i="0" dirty="0">
                <ns1:solidFill>
                  <ns1:srgbClr val="FFFFFF"/>
                </ns1:solidFill>
                <ns1:latin typeface="Calibri"/>
              </ns1:rPr>
              <ns1:t>Авторский вклад: полная реализация + YOLOv8 интеграция</ns1:t>
            </ns1:r>
          </ns1:p>
        </ns0:txBody>
      </ns0:sp>
      <ns0:sp>
        <ns0:nvSpPr>
          <ns0:cNvPr id="105" name="rect105"/>
          <ns0:cNvSpPr txBox="1"/>
          <ns0:nvPr/>
        </ns0:nvSpPr>
        <ns0:spPr>
          <ns1:xfrm>
            <ns1:off x="1188720" y="4572000"/>
            <ns1:ext cx="114300" cy="114300"/>
          </ns1:xfrm>
          <ns1:prstGeom prst="rect">
            <ns1:avLst/>
          </ns1:prstGeom>
          <ns1:solidFill>
            <ns1:srgbClr val="00B4D8"/>
          </ns1:solidFill>
          <ns1:ln/>
        </ns0:spPr>
        <ns0:txBody>
          <ns1:bodyPr/>
          <ns1:lstStyle/>
          <ns1:p/>
        </ns0:txBody>
      </ns0:sp>
      <ns0:sp>
        <ns0:nvSpPr>
          <ns0:cNvPr id="205" name="txt205"/>
          <ns0:cNvSpPr txBox="1"/>
          <ns0:nvPr/>
        </ns0:nvSpPr>
        <ns0:spPr>
          <ns1:xfrm>
            <ns1:off x="1554480" y="4389120"/>
            <ns1:ext cx="10058400" cy="5486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l"/>
            <ns1:r>
              <ns1:rPr lang="ru-RU" sz="1800" b="0" i="0" dirty="0">
                <ns1:solidFill>
                  <ns1:srgbClr val="FFFFFF"/>
                </ns1:solidFill>
                <ns1:latin typeface="Calibri"/>
              </ns1:rPr>
              <ns1:t>Вся система воспроизводима в Colab за один запуск</ns1:t>
            </ns1:r>
          </ns1:p>
        </ns0:txBody>
      </ns0:sp>
      <ns0:sp>
        <ns0:nvSpPr>
          <ns0:cNvPr id="50" name="rect50"/>
          <ns0:cNvSpPr txBox="1"/>
          <ns0:nvPr/>
        </ns0:nvSpPr>
        <ns0:spPr>
          <ns1:xfrm>
            <ns1:off x="1371600" y="5029200"/>
            <ns1:ext cx="9144000" cy="1188720"/>
          </ns1:xfrm>
          <ns1:prstGeom prst="rect">
            <ns1:avLst/>
          </ns1:prstGeom>
          <ns1:solidFill>
            <ns1:srgbClr val="004A6B"/>
          </ns1:solidFill>
          <ns1:ln w="19050">
            <ns1:solidFill>
              <ns1:srgbClr val="00B4D8"/>
            </ns1:solidFill>
          </ns1:ln>
        </ns0:spPr>
        <ns0:txBody>
          <ns1:bodyPr/>
          <ns1:lstStyle/>
          <ns1:p/>
        </ns0:txBody>
      </ns0:sp>
      <ns0:sp>
        <ns0:nvSpPr>
          <ns0:cNvPr id="51" name="txt51"/>
          <ns0:cNvSpPr txBox="1"/>
          <ns0:nvPr/>
        </ns0:nvSpPr>
        <ns0:spPr>
          <ns1:xfrm>
            <ns1:off x="1554480" y="5120640"/>
            <ns1:ext cx="8778240" cy="1005840"/>
          </ns1:xfrm>
          <ns1:prstGeom prst="rect">
            <ns1:avLst/>
          </ns1:prstGeom>
          <ns1:noFill/>
          <ns1:ln>
            <ns1:noFill/>
          </ns1:ln>
        </ns0:spPr>
        <ns0:txBody>
          <ns1:bodyPr wrap="square" rtlCol="0"/>
          <ns1:lstStyle/>
          <ns1:p>
            <ns1:pPr algn="ctr"/>
            <ns1:r>
              <ns1:rPr lang="ru-RU" sz="2200" b="1" i="0" dirty="0">
                <ns1:solidFill>
                  <ns1:srgbClr val="FFFFFF"/>
                </ns1:solidFill>
                <ns1:latin typeface="Calibri"/>
              </ns1:rPr>
              <ns1:t>Спасибо за внимание!</ns1:t>
            </ns1:r>
          </ns1:p>
          <ns1:p>
            <ns1:pPr algn="ctr"/>
            <ns1:r>
              <ns1:rPr lang="ru-RU" sz="2200" b="1" i="0" dirty="0">
                <ns1:solidFill>
                  <ns1:srgbClr val="FFFFFF"/>
                </ns1:solidFill>
                <ns1:latin typeface="Calibri"/>
              </ns1:rPr>
              <ns1:t>Готов ответить на вопросы.</ns1:t>
            </ns1:r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Theme1">
  <a:themeElements>
    <a:clrScheme name="Office">
      <a:dk1>
        <a:sysClr lastClr="000000" val="windowText"/>
      </a:dk1>
      <a:lt1>
        <a:sysClr lastClr="ffffff" val="window"/>
      </a:lt1>
      <a:dk2>
        <a:srgbClr val="1F497D"/>
      </a:dk2>
      <a:lt2>
        <a:srgbClr val="EEECE1"/>
      </a:lt2>
      <a:accent1>
        <a:srgbClr val="00B4D8"/>
      </a:accent1>
      <a:accent2>
        <a:srgbClr val="FFD166"/>
      </a:accent2>
      <a:accent3>
        <a:srgbClr val="4BACC6"/>
      </a:accent3>
      <a:accent4>
        <a:srgbClr val="8064A2"/>
      </a:accent4>
      <a:accent5>
        <a:srgbClr val="4F81BD"/>
      </a:accent5>
      <a:accent6>
        <a:srgbClr val="00B050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atMod val="350000"/>
              </a:schemeClr>
            </a:gs>
            <a:gs pos="100000">
              <a:schemeClr val="phClr">
                <a:shade val="20000"/>
                <a:satMod val="35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hade val="80000"/>
              </a:schemeClr>
            </a:gs>
            <a:gs pos="100000">
              <a:schemeClr val="phClr">
                <a:tint val="50000"/>
                <a:shade val="44000"/>
              </a:schemeClr>
            </a:gs>
          </a:gsLst>
          <a:lin ang="162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 xmlns:ep="http://schemas.openxmlformats.org/officeDocument/2006/extended-properties">
  <ns0:Slides>11</ns0:Slides>
  <ns0:Application>Python PPTX Generator</ns0:Application>
</ns0:Properties>
</file>

<file path=docProps/core.xml><?xml version="1.0" encoding="UTF-8" standalone="yes"?>
<ns0:coreProperties xmlns:dc="http://purl.org/dc/elements/1.1/" xmlns:ns0="http://schemas.openxmlformats.org/package/2006/metadata/core-properties" xmlns:cp="http://schemas.openxmlformats.org/package/2006/metadata/core-properties" xmlns:dc="http://purl.org/dc/elements/1.1/" xmlns:xsi="http://www.w3.org/2001/XMLSchema-instance"><dc:title>Система автономного управления автомобилем</dc:title><dc:creator>Филиппов А.</dc:creator></ns0:coreProperties>
</file>